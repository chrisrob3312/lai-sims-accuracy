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Two-part update today: (1) LAI accuracy benchmarking pilot using an expanded Mexican Biobank reference panel; (2) status of the 8-module Nextflow preprocessing pipeline. Numbers shown are the chr20-22 pilot; full 22-chr sweep is running and will refresh these before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three-aim structure hasn't changed since the Spring TAC. Aim 1 is the REDIAL demographic+clinical outcomes paper (Onwuka/Magyar co-first, under revision for Leukemia). Aim 2 is what this update focuses on — the Nextflow preprocessing pipeline plus the LAI accuracy benchmarking that decides which Amerindigenous reference panel to lock in. Aim 3 is the downstream GWAS: trans-ancestry SAIGE for the shared variants, Tractor for local-ancestry-informed effect estimation in the admixed REDIAL/COG cohorts, PolyFun-SuSiE for fine-mapping. Aim 2 numbers coming today directly feed Aim 3's panel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 1 recap. REDIAL analysis found that even among MRD-negative children — historically the low-risk group — self-identified Latino and non-Latino Black kids show elevated disease-free-survival hazard vs non-Latino White. This is important because MRD-negativity is widely used as a de-escalation threshold in ALL trials, and if the same MRD-negative status carries different underlying relapse risk by race/ethnicity, we may be systematically under-treating minority kids. Motivates Aim 2/3: find the biological substrate. Manuscript is under revision — HR values shown here are placeholders until the manuscript numbers are locked; ask me for the current table.</a:t>
            </a:r>
          </a:p>
          <a:p/>
          <a:p>
            <a:r>
              <a:t>STATUS: reviewed and updated primary analysis; first draft of manuscript with figures/tables/supplemental complete; co-author review; target submission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gap slide. Public HGDP+1KG panels give us ~620 EUR haps, ~634 AFR, ~667 EAS, but only ~88 AMR — a 7× disparity. The MX Biobank donation of 50 WGS Mexican samples nearly doubles the AMR pool to 138, but the geographic composition (pie) shows we are still Mexico-heavy and missing Central America, the Southern Cone, the eastern Amazon, and the Caribbean. This is why panel-choice matters and why we're benchmarking before we lock a panel down for the REDIAL/COG cohorts.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Simulation harness: SHAPEIT5-phased references feed admix-simu to create 30 admixed individuals per cohort at generation 12 (long enough for chromosome-scale tracts to be resolvable). RFMix v1 TrioPhased mode matches Honorato-Mauer 2025. Recall = per-haplotype per-ancestry concordance against the admix-simu-provided truth. We ran 6 candidate reference panels crossed with 2 simulated cohort tracks (Brazilian-like and Mexican-like) to see whether the best panel depends on the target cohort's own ancestry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slide before we zoom in. Three ancestries side by side, same panels, same y-scale. EUR and AFR sit near ceiling regardless of which AMR reference we pick — those calls are easy because the EUR and AFR reference pools are already large and diverse. AMR is the ancestry that moves: ~3% swing across panel choice on the Mexican-like cohort. Motivates zooming in on AMR in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RESULT. Extended pilot numbers (chr 1-8 + 20-22 for the 4 full-coverage panels; chr20-22 only for HOMOG and PEL_EAS — flagged with *). On the Mexican-like cohort (NATMXB track, teal): +25 MXB lifts NAT recall from 0.954 → 0.958 and F1 from 0.969 → 0.974 (cleanest single winner). On the Brazilian-like cohort (NAT track, orange): +25 MXB costs ~1% NAT recall (0.930 → 0.920) but bumps precision (0.981 → 0.990), so F1 is roughly flat. +50 MXB (HGDPMXB_FULL) costs more recall (0.902) with only marginal F1 benefit — 25 MXB is the sweet spot. PEL matches or beats HGDP on the Brazilian cohort. NAT_HOMOG (Q≥0.95 filter, donor-safe) performs comparably to HGDPMXB in the 3-chr subset we have — worth re-running with full coverage. Punchline: adding MXB is a clear win for a Mexican-cohort GWAS; matched-source reference (PEL for Brazilian) matters more than panel size.</a:t>
            </a:r>
          </a:p>
          <a:p/>
          <a:p>
            <a:r>
              <a:t>──────── METRICS CHEAT SHEET ────────</a:t>
            </a:r>
          </a:p>
          <a:p>
            <a:r>
              <a:t>• TP / FP / FN: sites where called ancestry matches truth (TP), calls were wrong-class (FP), or truth was this class but we missed (FN). TN is ignored — this is a small-positive-class setting.</a:t>
            </a:r>
          </a:p>
          <a:p>
            <a:r>
              <a:t>• Recall = Sensitivity = TPR = TP / (TP + FN). Of all true NAT sites, how many we recovered. Currently plotted on the hero bars.</a:t>
            </a:r>
          </a:p>
          <a:p>
            <a:r>
              <a:t>• Precision = PPV = TP / (TP + FP). Of the sites we CALLED NAT, how many were actually NAT. Guards against over-calling.</a:t>
            </a:r>
          </a:p>
          <a:p>
            <a:r>
              <a:t>• F1 = 2·P·R / (P + R). Harmonic mean of precision and recall — the class-imbalance-robust summary. NOT the same as balanced accuracy (which uses specificity); F1 ignores TN by design.</a:t>
            </a:r>
          </a:p>
          <a:p>
            <a:r>
              <a:t>• Weighted (in these tables): concordance / recall / precision are weighted by (n_haps × n_sites) per chromosome so long chromosomes and larger haplotype counts contribute more.</a:t>
            </a:r>
          </a:p>
          <a:p>
            <a:r>
              <a:t>• Concordance in these tables (== weighted_recall in current R impl) is per-site agreement to truth, per ancestry, one-vs-rest.</a:t>
            </a:r>
          </a:p>
          <a:p>
            <a:r>
              <a:t>• SE: standard error of the per-chromosome mean (not a bootstrap CI).</a:t>
            </a:r>
          </a:p>
          <a:p>
            <a:r>
              <a:t>Publication table with all three metrics is committed to results/tables/publication_table_amr.tsv and rendered to slides/tables/publication_table_amr.png.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Complementary result. Same reference panels, but the admixed cohort's haplotypes were down-sampled to the ~385k autosomal Illumina GSA v3 positions before calling. NAT recall drops by only ~0.7-1.2% across panels — the panel ranking is preserved and the direction of every effect matches WGS. This matters because our REDIAL/COG cohorts are chip-genotyped, not WGS — so the WGS result generalizes. Michigan/1KG imputation is the post-committee validation step; today we can already recommend HGDPMXB (+25 MXB) for the Mexican-Latino LAI pipeline. NAT_HOMOG is a donor-safe backup that performs equivalently.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Two-part update: what shipped since the Spring TAC and what's queued. The 8 modules (colleague-led) now run end-to-end on test data with the TOPMed imputation server — Module 8 benchmarking plots render. Michigan and AoU AnVIL back-ends are patched in but not yet run on the full benchmark set. Full multi-platform benchmarking is expected to complete before the fall term. Downstream: once Modules 6-7 hand off a QC'd, ancestry-labeled cohort, the LAI accuracy work presented today directly feeds panel selection for Module 7's LAI step, and the ancestry-stratified GWAS begins on REDIAL/COG. The dashed red box on the diagram marks exactly the modules this thesis has empirically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Aim 3 splits into two GWAS tracks. 3.a is the trans-ancestry track: GRAF-anc first partitions the combined REDIAL + COG + St. Jude cohort into 4 ancestry groups (African-American, European-American, Latin American 1, Latin American 2), stratified SAIGE GWAS per group, then trans-ancestry meta-analysis at n≈5,357, followed by MGflashfm fine-mapping which handles multi-trait multi-ethnic LD differences. 3.b is the local-ancestry track: RFMix v1 (the exact tool this Aim 2 work is benchmarking) on the 1,660 self-reported Latino individuals, then Tractor to fit per-ancestry β for AMR, EUR, and AFR tracts jointly. Fine-mapping downstream uses SuSiE + PolyFun. The point of Aim 2 is to make sure the RFMix step in 3.b is using the best reference panel — HGDPMXB by our current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broken down by aim. Aim 1 wraps this quarter with the REDIAL manuscript. Aim 2 finishes the 22-chr LAI sweep this month (currently 126/198 done on the WGS side, backfill queued for HOMOG / PEL_EAS panels and full chip-density coverage), then benchmarks the Nextflow pipeline on all three imputation servers (TOPMed, Michigan, AoU AnVIL) through end of 2026. Pipeline manuscript targets Q1 2027. Aim 3 sequences behind Aim 2 — GRAF-anc + PCs in the fall, SAIGE + fine-mapping over winter, then Tractor local-ancestry GWAS in spring 2027 (which needs Aim 2's reference panel decision locked in). Thesis writing spring 2027, defense July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acks — matches the Spring TAC deck acknowledgements slide.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45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i="0" b="1">
                <a:solidFill>
                  <a:srgbClr val="0E2841"/>
                </a:solidFill>
              </a:rPr>
              <a:t>Ancestry-informed analysis of germline genomic contributors</a:t>
            </a:r>
          </a:p>
          <a:p>
            <a:pPr algn="l"/>
            <a:r>
              <a:rPr sz="3000" i="0" b="1">
                <a:solidFill>
                  <a:srgbClr val="0E2841"/>
                </a:solidFill>
              </a:rPr>
              <a:t>to childhood B-ALL clinical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i="0" b="0">
                <a:solidFill>
                  <a:srgbClr val="1A1A1A"/>
                </a:solidFill>
              </a:rPr>
              <a:t>Christina Magyar  ·  GS4 Thesis Committee Update  ·  Aims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August 2026  ·  BCM MSTP · Genetics and Genomics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i="0" b="1">
                <a:solidFill>
                  <a:srgbClr val="666666"/>
                </a:solidFill>
              </a:rPr>
              <a:t>Advisors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0">
                <a:solidFill>
                  <a:srgbClr val="1A1A1A"/>
                </a:solidFill>
              </a:rPr>
              <a:t>Philip J. Lupo, PhD  (Thesis advisor)</a:t>
            </a:r>
          </a:p>
          <a:p>
            <a:pPr algn="l"/>
            <a:r>
              <a:rPr sz="1300" i="0" b="0">
                <a:solidFill>
                  <a:srgbClr val="1A1A1A"/>
                </a:solidFill>
              </a:rPr>
              <a:t>Elizabeth Atkinson, PhD  (Local advisor)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Three aims — this update focuses on Aim 2.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9407" y="1417320"/>
            <a:ext cx="3657600" cy="4297680"/>
          </a:xfrm>
          <a:prstGeom prst="roundRect">
            <a:avLst/>
          </a:prstGeom>
          <a:solidFill>
            <a:srgbClr val="E8E8E8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8007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i="0" b="1">
                <a:solidFill>
                  <a:srgbClr val="666666"/>
                </a:solidFill>
              </a:rPr>
              <a:t>Aim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8007" y="2286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0E2841"/>
                </a:solidFill>
              </a:rPr>
              <a:t>Demographic &amp; clinical</a:t>
            </a:r>
          </a:p>
          <a:p>
            <a:pPr algn="l"/>
            <a:r>
              <a:rPr sz="1500" i="0" b="1">
                <a:solidFill>
                  <a:srgbClr val="0E2841"/>
                </a:solidFill>
              </a:rPr>
              <a:t>predictors of B-ALL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007" y="361188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REDIAL cohort · MRD-stratified survival · manuscript to Leukemia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007" y="5074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 b="1">
                <a:solidFill>
                  <a:srgbClr val="666666"/>
                </a:solidFill>
              </a:rPr>
              <a:t>Submitted / under revision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047" y="1417320"/>
            <a:ext cx="3657600" cy="4297680"/>
          </a:xfrm>
          <a:prstGeom prst="roundRect">
            <a:avLst/>
          </a:prstGeom>
          <a:solidFill>
            <a:srgbClr val="FFF1E4"/>
          </a:solidFill>
          <a:ln w="2540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i="0" b="1">
                <a:solidFill>
                  <a:srgbClr val="E97132"/>
                </a:solidFill>
              </a:rPr>
              <a:t>Aim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5647" y="2286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0E2841"/>
                </a:solidFill>
              </a:rPr>
              <a:t>Building the preprocessing</a:t>
            </a:r>
          </a:p>
          <a:p>
            <a:pPr algn="l"/>
            <a:r>
              <a:rPr sz="1500" i="0" b="1">
                <a:solidFill>
                  <a:srgbClr val="0E2841"/>
                </a:solidFill>
              </a:rPr>
              <a:t>+ LAI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647" y="361188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Nextflow · MXB reference · LAI accuracy benchmarking · manuscript-ready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647" y="5074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 b="1">
                <a:solidFill>
                  <a:srgbClr val="E97132"/>
                </a:solidFill>
              </a:rPr>
              <a:t>Focus of today's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4687" y="1417320"/>
            <a:ext cx="3657600" cy="4297680"/>
          </a:xfrm>
          <a:prstGeom prst="roundRect">
            <a:avLst/>
          </a:prstGeom>
          <a:solidFill>
            <a:srgbClr val="E8E8E8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3287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i="0" b="1">
                <a:solidFill>
                  <a:srgbClr val="666666"/>
                </a:solidFill>
              </a:rPr>
              <a:t>Aim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87" y="22860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0E2841"/>
                </a:solidFill>
              </a:rPr>
              <a:t>Genetic association study</a:t>
            </a:r>
          </a:p>
          <a:p>
            <a:pPr algn="l"/>
            <a:r>
              <a:rPr sz="1500" i="0" b="1">
                <a:solidFill>
                  <a:srgbClr val="0E2841"/>
                </a:solidFill>
              </a:rPr>
              <a:t>of B-ALL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3287" y="3611880"/>
            <a:ext cx="3200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Trans-ancestry GWAS · Tractor local-ancestry-informed · PolyFun-SuSiE fine-mapping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3287" y="5074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1" b="1">
                <a:solidFill>
                  <a:srgbClr val="666666"/>
                </a:solidFill>
              </a:rPr>
              <a:t>Next 6-12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i="1" b="0">
                <a:solidFill>
                  <a:srgbClr val="1A1A1A"/>
                </a:solidFill>
              </a:rPr>
              <a:t>Aim 2 is the technical bridge — the LAI accuracy work picks the reference panel that Aim 3's local-ancestry GWAS will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Aims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Aim 1: MRD-negative Latino &amp; NL-Black children still relapse more than NL-White.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REDIAL cohort · Cox PH adjusted for age, sex, WBC, cytogenetics, CNS, 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5394960" cy="393192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E97132"/>
                </a:solidFill>
              </a:rPr>
              <a:t>MRD-negative B-ALL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•  Latino:      HR ~1.4 for disease-free survival vs NL-White</a:t>
            </a:r>
          </a:p>
          <a:p>
            <a:pPr algn="l"/>
            <a:r>
              <a:rPr sz="1200" i="0" b="0">
                <a:solidFill>
                  <a:srgbClr val="1A1A1A"/>
                </a:solidFill>
              </a:rPr>
              <a:t>•  NL-Black:  HR ~1.6 for disease-free survival vs NL-White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i="1" b="0">
                <a:solidFill>
                  <a:srgbClr val="666666"/>
                </a:solidFill>
              </a:rPr>
              <a:t>Despite the same favorable MRD status, disparity persists.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393192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156082"/>
                </a:solidFill>
              </a:rPr>
              <a:t>MRD-positive B-ALL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•  Latino:      HR consistent with prior COG reports</a:t>
            </a:r>
          </a:p>
          <a:p>
            <a:pPr algn="l"/>
            <a:r>
              <a:rPr sz="1200" i="0" b="0">
                <a:solidFill>
                  <a:srgbClr val="1A1A1A"/>
                </a:solidFill>
              </a:rPr>
              <a:t>•  NL-Black:  HR consistent with prior COG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6177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i="1" b="0">
                <a:solidFill>
                  <a:srgbClr val="666666"/>
                </a:solidFill>
              </a:rPr>
              <a:t>Confirms known MRD-positive disparity in a contemporary cohort.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7607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i="1" b="0">
                <a:solidFill>
                  <a:srgbClr val="0E2841"/>
                </a:solidFill>
              </a:rPr>
              <a:t>Onwuka &amp; Magyar et al. — REDIAL Ethnic and Racial Survival Disparities by MRD Status — under revision for Leukemia (submission May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1 · REDIAL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Public Amerindigenous references are ~7× smaller than other continents.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HGDP + 1000 Genomes reference haplotypes, by continental group</a:t>
            </a:r>
          </a:p>
        </p:txBody>
      </p:sp>
      <p:pic>
        <p:nvPicPr>
          <p:cNvPr id="4" name="Picture 3" descr="fig_amr_dis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11430000" cy="51829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080760"/>
            <a:ext cx="11155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Adding 50 MX Biobank WGS samples brings AMR to 88 — still leaves Central America, Southern Cone, Amazon, Caribbean underrepresented.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2 ·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We simulated admixed cohorts to measure per-hap LAI recall.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9427" y="1920240"/>
            <a:ext cx="2148840" cy="1920240"/>
          </a:xfrm>
          <a:prstGeom prst="round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0000" lIns="60000" rIns="60000"/>
          <a:lstStyle/>
          <a:p>
            <a:pPr algn="ctr"/>
            <a:r>
              <a:rPr sz="1300" b="1">
                <a:solidFill>
                  <a:srgbClr val="0E2841"/>
                </a:solidFill>
              </a:rPr>
              <a:t>Reference haps</a:t>
            </a:r>
          </a:p>
          <a:p>
            <a:pPr algn="ctr"/>
            <a:r>
              <a:rPr sz="1000">
                <a:solidFill>
                  <a:srgbClr val="1A1A1A"/>
                </a:solidFill>
              </a:rPr>
              <a:t>HGDP + 1KG</a:t>
            </a:r>
            <a:br/>
            <a:r>
              <a:rPr sz="1000">
                <a:solidFill>
                  <a:srgbClr val="1A1A1A"/>
                </a:solidFill>
              </a:rPr>
              <a:t>+ 50 MXB WGS</a:t>
            </a:r>
            <a:br/>
            <a:r>
              <a:rPr sz="1000">
                <a:solidFill>
                  <a:srgbClr val="1A1A1A"/>
                </a:solidFill>
              </a:rPr>
              <a:t>(6 panel combos)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02839" y="2761488"/>
            <a:ext cx="128015" cy="25603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35427" y="1920240"/>
            <a:ext cx="2148840" cy="1920240"/>
          </a:xfrm>
          <a:prstGeom prst="round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0000" lIns="60000" rIns="60000"/>
          <a:lstStyle/>
          <a:p>
            <a:pPr algn="ctr"/>
            <a:r>
              <a:rPr sz="1300" b="1">
                <a:solidFill>
                  <a:srgbClr val="0E2841"/>
                </a:solidFill>
              </a:rPr>
              <a:t>Phasing</a:t>
            </a:r>
          </a:p>
          <a:p>
            <a:pPr algn="ctr"/>
            <a:r>
              <a:rPr sz="1000">
                <a:solidFill>
                  <a:srgbClr val="1A1A1A"/>
                </a:solidFill>
              </a:rPr>
              <a:t>SHAPEIT5</a:t>
            </a:r>
            <a:br/>
            <a:r>
              <a:rPr sz="1000">
                <a:solidFill>
                  <a:srgbClr val="1A1A1A"/>
                </a:solidFill>
              </a:rPr>
              <a:t>population phasing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88839" y="2761488"/>
            <a:ext cx="128015" cy="25603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1427" y="1920240"/>
            <a:ext cx="2148840" cy="1920240"/>
          </a:xfrm>
          <a:prstGeom prst="round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0000" lIns="60000" rIns="60000"/>
          <a:lstStyle/>
          <a:p>
            <a:pPr algn="ctr"/>
            <a:r>
              <a:rPr sz="1300" b="1">
                <a:solidFill>
                  <a:srgbClr val="0E2841"/>
                </a:solidFill>
              </a:rPr>
              <a:t>Simulate admixed</a:t>
            </a:r>
          </a:p>
          <a:p>
            <a:pPr algn="ctr"/>
            <a:r>
              <a:rPr sz="1000">
                <a:solidFill>
                  <a:srgbClr val="1A1A1A"/>
                </a:solidFill>
              </a:rPr>
              <a:t>admix-simu</a:t>
            </a:r>
            <a:br/>
            <a:r>
              <a:rPr sz="1000">
                <a:solidFill>
                  <a:srgbClr val="1A1A1A"/>
                </a:solidFill>
              </a:rPr>
              <a:t>gen=12, n=30</a:t>
            </a:r>
            <a:br/>
            <a:r>
              <a:rPr sz="1000">
                <a:solidFill>
                  <a:srgbClr val="1A1A1A"/>
                </a:solidFill>
              </a:rPr>
              <a:t>Brasa &amp; MXB tracks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174839" y="2761488"/>
            <a:ext cx="128015" cy="25603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07427" y="1920240"/>
            <a:ext cx="2148840" cy="1920240"/>
          </a:xfrm>
          <a:prstGeom prst="round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0000" lIns="60000" rIns="60000"/>
          <a:lstStyle/>
          <a:p>
            <a:pPr algn="ctr"/>
            <a:r>
              <a:rPr sz="1300" b="1">
                <a:solidFill>
                  <a:srgbClr val="0E2841"/>
                </a:solidFill>
              </a:rPr>
              <a:t>Local ancestry</a:t>
            </a:r>
          </a:p>
          <a:p>
            <a:pPr algn="ctr"/>
            <a:r>
              <a:rPr sz="1000">
                <a:solidFill>
                  <a:srgbClr val="1A1A1A"/>
                </a:solidFill>
              </a:rPr>
              <a:t>RFMix v1 TrioPhased</a:t>
            </a:r>
            <a:br/>
            <a:r>
              <a:rPr sz="1000">
                <a:solidFill>
                  <a:srgbClr val="1A1A1A"/>
                </a:solidFill>
              </a:rPr>
              <a:t>22 chromosomes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460839" y="2761488"/>
            <a:ext cx="128015" cy="256032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93427" y="1920240"/>
            <a:ext cx="2148840" cy="1920240"/>
          </a:xfrm>
          <a:prstGeom prst="roundRect">
            <a:avLst/>
          </a:prstGeom>
          <a:solidFill>
            <a:srgbClr val="E8E8E8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80000" lIns="60000" rIns="60000"/>
          <a:lstStyle/>
          <a:p>
            <a:pPr algn="ctr"/>
            <a:r>
              <a:rPr sz="1300" b="1">
                <a:solidFill>
                  <a:srgbClr val="0E2841"/>
                </a:solidFill>
              </a:rPr>
              <a:t>Score</a:t>
            </a:r>
          </a:p>
          <a:p>
            <a:pPr algn="ctr"/>
            <a:r>
              <a:rPr sz="1000">
                <a:solidFill>
                  <a:srgbClr val="1A1A1A"/>
                </a:solidFill>
              </a:rPr>
              <a:t>per-hap recall</a:t>
            </a:r>
            <a:br/>
            <a:r>
              <a:rPr sz="1000">
                <a:solidFill>
                  <a:srgbClr val="1A1A1A"/>
                </a:solidFill>
              </a:rPr>
              <a:t>vs known truth</a:t>
            </a:r>
            <a:br/>
            <a:r>
              <a:rPr sz="1000">
                <a:solidFill>
                  <a:srgbClr val="1A1A1A"/>
                </a:solidFill>
              </a:rPr>
              <a:t>weighted concordance /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605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Six reference-panel combinations tested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72000"/>
            <a:ext cx="1874519" cy="960120"/>
          </a:xfrm>
          <a:prstGeom prst="roundRect">
            <a:avLst/>
          </a:prstGeom>
          <a:solidFill>
            <a:srgbClr val="E8E8E8"/>
          </a:solidFill>
          <a:ln w="177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80000" rIns="60000"/>
          <a:lstStyle/>
          <a:p>
            <a:pPr algn="l"/>
            <a:r>
              <a:rPr sz="1100" b="1">
                <a:solidFill>
                  <a:srgbClr val="666666"/>
                </a:solidFill>
              </a:rPr>
              <a:t>NAT_HGDP</a:t>
            </a:r>
          </a:p>
          <a:p>
            <a:pPr algn="l"/>
            <a:r>
              <a:rPr sz="950">
                <a:solidFill>
                  <a:srgbClr val="1A1A1A"/>
                </a:solidFill>
              </a:rPr>
              <a:t>26 HGDP + 5 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4572000"/>
            <a:ext cx="1874519" cy="960120"/>
          </a:xfrm>
          <a:prstGeom prst="roundRect">
            <a:avLst/>
          </a:prstGeom>
          <a:solidFill>
            <a:srgbClr val="E8E8E8"/>
          </a:solidFill>
          <a:ln w="1778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80000" rIns="60000"/>
          <a:lstStyle/>
          <a:p>
            <a:pPr algn="l"/>
            <a:r>
              <a:rPr sz="1100" b="1">
                <a:solidFill>
                  <a:srgbClr val="E97132"/>
                </a:solidFill>
              </a:rPr>
              <a:t>NAT_HGDPMXB</a:t>
            </a:r>
          </a:p>
          <a:p>
            <a:pPr algn="l"/>
            <a:r>
              <a:rPr sz="950">
                <a:solidFill>
                  <a:srgbClr val="1A1A1A"/>
                </a:solidFill>
              </a:rPr>
              <a:t>+ 25 MXB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79" y="4572000"/>
            <a:ext cx="1874519" cy="960120"/>
          </a:xfrm>
          <a:prstGeom prst="roundRect">
            <a:avLst/>
          </a:prstGeom>
          <a:solidFill>
            <a:srgbClr val="E8E8E8"/>
          </a:solidFill>
          <a:ln w="1778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80000" rIns="60000"/>
          <a:lstStyle/>
          <a:p>
            <a:pPr algn="l"/>
            <a:r>
              <a:rPr sz="1100" b="1">
                <a:solidFill>
                  <a:srgbClr val="E97132"/>
                </a:solidFill>
              </a:rPr>
              <a:t>NAT_HGDPMXB_FULL</a:t>
            </a:r>
          </a:p>
          <a:p>
            <a:pPr algn="l"/>
            <a:r>
              <a:rPr sz="950">
                <a:solidFill>
                  <a:srgbClr val="1A1A1A"/>
                </a:solidFill>
              </a:rPr>
              <a:t>+ 50 MXB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577840"/>
            <a:ext cx="1874519" cy="960120"/>
          </a:xfrm>
          <a:prstGeom prst="roundRect">
            <a:avLst/>
          </a:prstGeom>
          <a:solidFill>
            <a:srgbClr val="E8E8E8"/>
          </a:solidFill>
          <a:ln w="1778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80000" rIns="60000"/>
          <a:lstStyle/>
          <a:p>
            <a:pPr algn="l"/>
            <a:r>
              <a:rPr sz="1100" b="1">
                <a:solidFill>
                  <a:srgbClr val="156082"/>
                </a:solidFill>
              </a:rPr>
              <a:t>NAT_HOMOG</a:t>
            </a:r>
          </a:p>
          <a:p>
            <a:pPr algn="l"/>
            <a:r>
              <a:rPr sz="950">
                <a:solidFill>
                  <a:srgbClr val="1A1A1A"/>
                </a:solidFill>
              </a:rPr>
              <a:t>ADMIXTURE-homog Q≥0.95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5577840"/>
            <a:ext cx="1874519" cy="960120"/>
          </a:xfrm>
          <a:prstGeom prst="roundRect">
            <a:avLst/>
          </a:prstGeom>
          <a:solidFill>
            <a:srgbClr val="E8E8E8"/>
          </a:solidFill>
          <a:ln w="1778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80000" rIns="60000"/>
          <a:lstStyle/>
          <a:p>
            <a:pPr algn="l"/>
            <a:r>
              <a:rPr sz="1100" b="1">
                <a:solidFill>
                  <a:srgbClr val="196B24"/>
                </a:solidFill>
              </a:rPr>
              <a:t>NAT_PEL</a:t>
            </a:r>
          </a:p>
          <a:p>
            <a:pPr algn="l"/>
            <a:r>
              <a:rPr sz="950">
                <a:solidFill>
                  <a:srgbClr val="1A1A1A"/>
                </a:solidFill>
              </a:rPr>
              <a:t>adds 9 PEL (Peru)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5577840"/>
            <a:ext cx="1874519" cy="960120"/>
          </a:xfrm>
          <a:prstGeom prst="roundRect">
            <a:avLst/>
          </a:prstGeom>
          <a:solidFill>
            <a:srgbClr val="E8E8E8"/>
          </a:solidFill>
          <a:ln w="17780">
            <a:solidFill>
              <a:srgbClr val="196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000" lIns="80000" rIns="60000"/>
          <a:lstStyle/>
          <a:p>
            <a:pPr algn="l"/>
            <a:r>
              <a:rPr sz="1100" b="1">
                <a:solidFill>
                  <a:srgbClr val="196B24"/>
                </a:solidFill>
              </a:rPr>
              <a:t>NAT_PEL_EAS</a:t>
            </a:r>
          </a:p>
          <a:p>
            <a:pPr algn="l"/>
            <a:r>
              <a:rPr sz="950">
                <a:solidFill>
                  <a:srgbClr val="1A1A1A"/>
                </a:solidFill>
              </a:rPr>
              <a:t>PEL + EAS outgroup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720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Two simulated admixed cohorts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37760"/>
            <a:ext cx="52120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•  Brasa track — 15% NAT / 60% EUR / 25% AFR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     (Brazilian-like ancestry proportions)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•  MXB track — Mexican-like ancestry proportions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     (tests whether MXB helps a Mexican cohort)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2 ·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Panel choice moves AMR recall by ~3%; EUR and AFR sit near ceiling.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Weighted per-hap recall by ancestry, WGS density, chr20-22 pilot</a:t>
            </a:r>
          </a:p>
        </p:txBody>
      </p:sp>
      <p:pic>
        <p:nvPicPr>
          <p:cNvPr id="4" name="Picture 3" descr="fig_wgs_all_ance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5492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1A1A1A"/>
                </a:solidFill>
              </a:rPr>
              <a:t>→  AMR is where reference-panel choice actually matters — so the rest of the deck focuses on AMR recall.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2 · Result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Best reference panel depends on the target cohort's composition.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Weighted NAT-ancestry recall, WGS density, chr20-22 pilot</a:t>
            </a:r>
          </a:p>
        </p:txBody>
      </p:sp>
      <p:pic>
        <p:nvPicPr>
          <p:cNvPr id="4" name="Picture 3" descr="fig_wgs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498079" cy="35990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75320" y="1600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320" y="1965960"/>
            <a:ext cx="3611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0" b="0">
                <a:solidFill>
                  <a:srgbClr val="1A1A1A"/>
                </a:solidFill>
              </a:rPr>
              <a:t>For a Mexican-like cohort (blue bars):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•  Adding 25 MXB samples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lifts NAT recall  0.931 → 0.942</a:t>
            </a:r>
          </a:p>
          <a:p>
            <a:pPr algn="l"/>
          </a:p>
          <a:p>
            <a:pPr algn="l"/>
            <a:r>
              <a:rPr sz="1050" i="0" b="0">
                <a:solidFill>
                  <a:srgbClr val="1A1A1A"/>
                </a:solidFill>
              </a:rPr>
              <a:t>For a Brazilian-like cohort (red bars):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•  PEL (Peru) panel wins on NAT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HGDPMXB actually loses ~2%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•  Adding non-Mexican ancestry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to a Mexican reference hurts</a:t>
            </a:r>
          </a:p>
          <a:p>
            <a:pPr algn="l"/>
          </a:p>
          <a:p>
            <a:pPr algn="l"/>
            <a:r>
              <a:rPr sz="1050" i="0" b="0">
                <a:solidFill>
                  <a:srgbClr val="1A1A1A"/>
                </a:solidFill>
              </a:rPr>
              <a:t>→  Panel-choice must match the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 target cohort, not the largest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 available sample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2 · Result · AMR zoom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Chip-density LAI holds within ~1% of WGS on a Mexican-like cohort.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Illumina GSA v3 chip vs full WGS density, same reference panels</a:t>
            </a:r>
          </a:p>
        </p:txBody>
      </p:sp>
      <p:pic>
        <p:nvPicPr>
          <p:cNvPr id="4" name="Picture 3" descr="fig_chip_vs_w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680960" cy="3609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66760" y="1600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Implications for GWAS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965960"/>
            <a:ext cx="3611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0" b="0">
                <a:solidFill>
                  <a:srgbClr val="1A1A1A"/>
                </a:solidFill>
              </a:rPr>
              <a:t>•  REDIAL / COG cohorts are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genotyped on chip, not WGS —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LAI accuracy holds if we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use the MXB-augmented panel</a:t>
            </a:r>
          </a:p>
          <a:p>
            <a:pPr algn="l"/>
          </a:p>
          <a:p>
            <a:pPr algn="l"/>
            <a:r>
              <a:rPr sz="1050" i="0" b="0">
                <a:solidFill>
                  <a:srgbClr val="1A1A1A"/>
                </a:solidFill>
              </a:rPr>
              <a:t>•  Chip → TOPMed imputation is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the next validation step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(Michigan / 1KG post-meeting)</a:t>
            </a:r>
          </a:p>
          <a:p>
            <a:pPr algn="l"/>
          </a:p>
          <a:p>
            <a:pPr algn="l"/>
            <a:r>
              <a:rPr sz="1050" i="0" b="0">
                <a:solidFill>
                  <a:srgbClr val="1A1A1A"/>
                </a:solidFill>
              </a:rPr>
              <a:t>•  Panel ranking preserved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across densities: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 HGDPMXB &gt; HGDP &gt; PEL_EAS</a:t>
            </a:r>
          </a:p>
          <a:p>
            <a:pPr algn="l"/>
          </a:p>
          <a:p>
            <a:pPr algn="l"/>
            <a:r>
              <a:rPr sz="1050" i="0" b="0">
                <a:solidFill>
                  <a:srgbClr val="1A1A1A"/>
                </a:solidFill>
              </a:rPr>
              <a:t>•  Recommend HGDPMXB for the</a:t>
            </a:r>
          </a:p>
          <a:p>
            <a:pPr algn="l"/>
            <a:r>
              <a:rPr sz="1050" i="0" b="0">
                <a:solidFill>
                  <a:srgbClr val="1A1A1A"/>
                </a:solidFill>
              </a:rPr>
              <a:t>    Mexican-Latino GWAS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2 · Result · Chip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8-module Nextflow preprocessing pipeline built; benchmarking underway.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Containerized · parameterized · parallelized across chromosomes and platforms</a:t>
            </a:r>
          </a:p>
        </p:txBody>
      </p:sp>
      <p:pic>
        <p:nvPicPr>
          <p:cNvPr id="4" name="Picture 3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38534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507492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Status since Spring TAC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440680"/>
            <a:ext cx="868680" cy="27432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5458968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9-module Nextflow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733288"/>
            <a:ext cx="868680" cy="274320"/>
          </a:xfrm>
          <a:prstGeom prst="round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751576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Pilot ran on TOPMed test data (end of Module 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6025896"/>
            <a:ext cx="868680" cy="27432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 PROG.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6044184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Michigan &amp; AoU AnVIL patched in (Q3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318504"/>
            <a:ext cx="868680" cy="27432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 PROG.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6336792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Full benchmarking sweep (target Apr 2026 done)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611112"/>
            <a:ext cx="868680" cy="27432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662940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Ancestry-stratified GWAS on REDIAL/COG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2 · Pipeline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Aim 3: trans-ancestry + local-ancestry-informed GWAS on ~5,400 B-ALL cases.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1" b="0">
                <a:solidFill>
                  <a:srgbClr val="666666"/>
                </a:solidFill>
              </a:rPr>
              <a:t>Two parallel tracks: ancestry-stratified meta-analysis and Tractor local-ancestry GWAS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349240" cy="411480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156082"/>
                </a:solidFill>
              </a:rPr>
              <a:t>Aim 3.a  ·  Trans-ancestry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892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1.  GRAF-anc groups →  stratified SAIGE GWAS  (4 groups)</a:t>
            </a:r>
          </a:p>
          <a:p>
            <a:pPr algn="l"/>
          </a:p>
          <a:p>
            <a:pPr algn="l"/>
            <a:r>
              <a:rPr sz="1200" i="0" b="0">
                <a:solidFill>
                  <a:srgbClr val="1A1A1A"/>
                </a:solidFill>
              </a:rPr>
              <a:t>2.  Trans-ancestry meta-analysis  (n ≈ 5,357)</a:t>
            </a:r>
          </a:p>
          <a:p>
            <a:pPr algn="l"/>
          </a:p>
          <a:p>
            <a:pPr algn="l"/>
            <a:r>
              <a:rPr sz="1200" i="0" b="0">
                <a:solidFill>
                  <a:srgbClr val="1A1A1A"/>
                </a:solidFill>
              </a:rPr>
              <a:t>3.  Fine-mapping with MGflashfm  (multi-trait, multi-ethnic)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666666"/>
                </a:solidFill>
              </a:rPr>
              <a:t>Uses shared trans-ancestry effects across REDIAL + COG + St. Jude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49240" cy="411480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E9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i="0" b="1">
                <a:solidFill>
                  <a:srgbClr val="E97132"/>
                </a:solidFill>
              </a:rPr>
              <a:t>Aim 3.b  ·  Local-ancestry-informed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77440"/>
            <a:ext cx="48920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1.  RFMix v1 on 1,660 Latin American individuals</a:t>
            </a:r>
          </a:p>
          <a:p>
            <a:pPr algn="l"/>
          </a:p>
          <a:p>
            <a:pPr algn="l"/>
            <a:r>
              <a:rPr sz="1200" i="0" b="0">
                <a:solidFill>
                  <a:srgbClr val="1A1A1A"/>
                </a:solidFill>
              </a:rPr>
              <a:t>2.  Tractor GWAS  →  per-ancestry β for AMR / EUR / AFR</a:t>
            </a:r>
          </a:p>
          <a:p>
            <a:pPr algn="l"/>
          </a:p>
          <a:p>
            <a:pPr algn="l"/>
            <a:r>
              <a:rPr sz="1200" i="0" b="0">
                <a:solidFill>
                  <a:srgbClr val="1A1A1A"/>
                </a:solidFill>
              </a:rPr>
              <a:t>3.  Functionally-prioritized fine-mapping (SuSiE + PolyFun)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0292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i="1" b="0">
                <a:solidFill>
                  <a:srgbClr val="666666"/>
                </a:solidFill>
              </a:rPr>
              <a:t>Detects Amerindigenous-enriched risk variants missed by global-ancestry GWAS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i="1" b="0">
                <a:solidFill>
                  <a:srgbClr val="1A1A1A"/>
                </a:solidFill>
              </a:rPr>
              <a:t>Aim 2's LAI-accuracy work directly picks the reference panel used by Aim 3.b's RFMix step.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Aim 3 ·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Timeline to graduation — July 2027 target.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868680" cy="41148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463040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REDIAL manuscript revision + submission (Leukemia)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463040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E97132"/>
                </a:solidFill>
              </a:rPr>
              <a:t>Apr–Jun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92808"/>
            <a:ext cx="868680" cy="41148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38528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22-chr LAI sweep + full-coverage figures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938528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156082"/>
                </a:solidFill>
              </a:rPr>
              <a:t>Aug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68296"/>
            <a:ext cx="868680" cy="41148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14016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Nextflow pipeline benchmarking on TOPMed / Michigan / AoU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414016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156082"/>
                </a:solidFill>
              </a:rPr>
              <a:t>Sep–Dec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43784"/>
            <a:ext cx="868680" cy="41148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8950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Pipeline manuscript drafting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889504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156082"/>
                </a:solidFill>
              </a:rPr>
              <a:t>Jan–Mar 2027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19272"/>
            <a:ext cx="868680" cy="41148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64992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GRAF-anc stratification + PC calculation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2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E97132"/>
                </a:solidFill>
              </a:rPr>
              <a:t>Oct–Nov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94760"/>
            <a:ext cx="868680" cy="41148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40480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SAIGE trans-ancestry GWAS + MGflashfm fine-mapping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840480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E97132"/>
                </a:solidFill>
              </a:rPr>
              <a:t>Dec 2026 – Feb 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270248"/>
            <a:ext cx="868680" cy="41148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15968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RFMix + Tractor local-ancestry GWAS on REDIAL/COG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4315968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E97132"/>
                </a:solidFill>
              </a:rPr>
              <a:t>Feb – Apr 2027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45736"/>
            <a:ext cx="868680" cy="411480"/>
          </a:xfrm>
          <a:prstGeom prst="round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Aim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791455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PolyFun-SuSiE fine-mapping + candidate follow-up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791455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E97132"/>
                </a:solidFill>
              </a:rPr>
              <a:t>Apr – May 2027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21223"/>
            <a:ext cx="868680" cy="411480"/>
          </a:xfrm>
          <a:prstGeom prst="round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266943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i="0" b="0">
                <a:solidFill>
                  <a:srgbClr val="1A1A1A"/>
                </a:solidFill>
              </a:rPr>
              <a:t>Thesis writing + defense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266943"/>
            <a:ext cx="32918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i="0" b="1">
                <a:solidFill>
                  <a:srgbClr val="0E2841"/>
                </a:solidFill>
              </a:rPr>
              <a:t>May – Jul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Timeline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E2841"/>
                </a:solidFill>
              </a:rPr>
              <a:t>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6547" y="141732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Lupo Lab &amp; TCH EpiCenter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6547" y="1965960"/>
            <a:ext cx="3794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Dr. Philip J. Lupo  (Emory, thesis advisor)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Dr. Karen Rabin  (UCSF)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Dr. Melissa A. Richard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Dr. Austin Brown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Dr. Jeremy Schraw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Dr. Michael Scheurer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8467" y="141732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Atkinson Lab  (BCM · local advisor)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8467" y="1965960"/>
            <a:ext cx="3794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Dr. Elizabeth Atkinson  (local advisor)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Nirav Shah  ·  Jessica Honorato-Mauer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Grace Tietz  ·  Hatoon Al Ali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Helen Lin  ·  Pragati Kore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Erik Stricker  ·  Aishi Ayyanathan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Astrid Manuel  ·  Shalini Dhamodharan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0387" y="141732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i="0" b="1">
                <a:solidFill>
                  <a:srgbClr val="0E2841"/>
                </a:solidFill>
              </a:rPr>
              <a:t>Collaborators + funding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0387" y="1965960"/>
            <a:ext cx="3794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i="0" b="0">
                <a:solidFill>
                  <a:srgbClr val="1A1A1A"/>
                </a:solidFill>
              </a:rPr>
              <a:t>St. Jude Children's Research Hospital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  Dr. Jun Yang, Zenhua Li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Children's Oncology Group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MX Biobank  (Dr. Andrés Moreno-Estrada)</a:t>
            </a:r>
          </a:p>
          <a:p>
            <a:pPr algn="l"/>
          </a:p>
          <a:p>
            <a:pPr algn="l"/>
            <a:r>
              <a:rPr sz="1100" i="0" b="0">
                <a:solidFill>
                  <a:srgbClr val="1A1A1A"/>
                </a:solidFill>
              </a:rPr>
              <a:t>AIM-AHEAD Consortium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Robert &amp; Janice McNair Foundation</a:t>
            </a:r>
          </a:p>
          <a:p>
            <a:pPr algn="l"/>
            <a:r>
              <a:rPr sz="1100" i="0" b="0">
                <a:solidFill>
                  <a:srgbClr val="1A1A1A"/>
                </a:solidFill>
              </a:rPr>
              <a:t>BCM MSTP · G&amp;G Graduate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i="0" b="1">
                <a:solidFill>
                  <a:srgbClr val="0E2841"/>
                </a:solidFill>
              </a:rPr>
              <a:t>Thank you —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i="0" b="0">
                <a:solidFill>
                  <a:srgbClr val="666666"/>
                </a:solidFill>
              </a:rPr>
              <a:t>Christina Magyar  ·  Thesis committee, Aug 2026  ·  Acknowledgements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i="0" b="0">
                <a:solidFill>
                  <a:srgbClr val="666666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