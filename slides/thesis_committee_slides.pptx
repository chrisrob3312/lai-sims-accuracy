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Two-part update today: (1) LAI accuracy benchmarking pilot using an expanded Mexican Biobank reference panel; (2) status of the 8-module Nextflow preprocessing pipeline. Numbers shown are the chr20-22 pilot; full 22-chr sweep is running and will refresh these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slide. Public HGDP+1KG panels give us ~620 EUR haps, ~634 AFR, ~667 EAS, but only ~88 AMR — a 7× disparity. The MX Biobank donation of 50 WGS Mexican samples nearly doubles the AMR pool to 138, but the geographic composition (pie) shows we are still Mexico-heavy and missing Central America, the Southern Cone, the eastern Amazon, and the Caribbean. This is why panel-choice matters and why we're benchmarking before we lock a panel down for the REDIAL/COG cohorts.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Simulation harness: SHAPEIT5-phased references feed admix-simu to create 30 admixed individuals per cohort at generation 12 (long enough for chromosome-scale tracts to be resolvable). RFMix v1 TrioPhased mode matches Honorato-Mauer 2025. Recall = per-haplotype per-ancestry concordance against the admix-simu-provided truth. We ran 6 candidate reference panels crossed with 2 simulated cohort tracks (Brazilian-like and Mexican-like) to see whether the best panel depends on the target cohort's own ancestry composition.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Overview slide before we zoom in. Three ancestries side by side, same panels, same y-scale. EUR and AFR sit near ceiling regardless of which AMR reference we pick — those calls are easy because the EUR and AFR reference pools are already large and diverse. AMR is the ancestry that moves: ~3% swing across panel choice on the Mexican-like cohort. Motivates zooming in on AMR in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RESULT. On the Mexican-like cohort (NATMXB track, teal), adding 25 MXB samples to the HGDP baseline lifts NAT recall from 0.931 to 0.942 and F1 from 0.956 to 0.965. Adding 50 gets the same benefit (0.942 / 0.965) — 25 is enough. On the Brazilian-like cohort (NAT track, orange) the recall picture flips: the MXB-augmented panel LOSES ~2-5% NAT recall because Brazilian NAT ancestry is closer to Amazonian sources than Mexican; PEL (Peru) matches or beats HGDP on that cohort. But on F1 the Brazilian penalty softens — precision goes UP when MXB is added because the panel gets stricter about calling AMR, and F1 barely moves. NAT_HOMOG (Q≥0.95 filter) matches HGDPMXB on the Mexican cohort while being donor-safe. Punchline: no single best panel — the winner depends on the cohort's ancestry composition.</a:t>
            </a:r>
          </a:p>
          <a:p/>
          <a:p>
            <a:r>
              <a:t>──────── METRICS CHEAT SHEET ────────</a:t>
            </a:r>
          </a:p>
          <a:p>
            <a:r>
              <a:t>• TP / FP / FN: sites where called ancestry matches truth (TP), calls were wrong-class (FP), or truth was this class but we missed (FN). TN is ignored — this is a small-positive-class setting.</a:t>
            </a:r>
          </a:p>
          <a:p>
            <a:r>
              <a:t>• Recall = Sensitivity = TPR = TP / (TP + FN). Of all true NAT sites, how many we recovered. Currently plotted on the hero bars.</a:t>
            </a:r>
          </a:p>
          <a:p>
            <a:r>
              <a:t>• Precision = PPV = TP / (TP + FP). Of the sites we CALLED NAT, how many were actually NAT. Guards against over-calling.</a:t>
            </a:r>
          </a:p>
          <a:p>
            <a:r>
              <a:t>• F1 = 2·P·R / (P + R). Harmonic mean of precision and recall — the class-imbalance-robust summary. NOT the same as balanced accuracy (which uses specificity); F1 ignores TN by design.</a:t>
            </a:r>
          </a:p>
          <a:p>
            <a:r>
              <a:t>• Weighted (in these tables): concordance / recall / precision are weighted by (n_haps × n_sites) per chromosome so long chromosomes and larger haplotype counts contribute more.</a:t>
            </a:r>
          </a:p>
          <a:p>
            <a:r>
              <a:t>• Concordance in these tables (== weighted_recall in current R impl) is per-site agreement to truth, per ancestry, one-vs-rest.</a:t>
            </a:r>
          </a:p>
          <a:p>
            <a:r>
              <a:t>• SE: standard error of the per-chromosome mean (not a bootstrap CI).</a:t>
            </a:r>
          </a:p>
          <a:p>
            <a:r>
              <a:t>Publication table with all three metrics is committed to results/tables/publication_table_amr.tsv and rendered to slides/tables/publication_table_amr.png.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Complementary result. Same reference panels, but the admixed cohort's haplotypes were down-sampled to the ~385k autosomal Illumina GSA v3 positions before calling. NAT recall drops by only ~0.7-1.2% across panels — the panel ranking is preserved and the direction of every effect matches WGS. This matters because our REDIAL/COG cohorts are chip-genotyped, not WGS — so the WGS result generalizes. Michigan/1KG imputation is the post-committee validation step; today we can already recommend HGDPMXB (+25 MXB) for the Mexican-Latino LAI pipeline. NAT_HOMOG is a donor-safe backup that performs equivalently.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Two-part update: what shipped since the Spring TAC and what's queued. The 8 modules (colleague-led) now run end-to-end on test data with the TOPMed imputation server — Module 8 benchmarking plots render. Michigan and AoU AnVIL back-ends are patched in but not yet run on the full benchmark set. Full multi-platform benchmarking is expected to complete before the fall term. Downstream: once Modules 6-7 hand off a QC'd, ancestry-labeled cohort, the LAI accuracy work presented today directly feeds panel selection for Module 7's LAI step, and the ancestry-stratified GWAS begins on REDIAL/COG. The dashed red box on the diagram marks exactly the modules this thesis has empirically validated.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3063240"/>
            <a:ext cx="12191695" cy="457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554480"/>
            <a:ext cx="10972800" cy="1280160"/>
          </a:xfrm>
          <a:prstGeom prst="rect">
            <a:avLst/>
          </a:prstGeom>
          <a:noFill/>
        </p:spPr>
        <p:txBody>
          <a:bodyPr wrap="square" lIns="0" rIns="0" tIns="0" bIns="0">
            <a:spAutoFit/>
          </a:bodyPr>
          <a:lstStyle/>
          <a:p>
            <a:pPr algn="l"/>
            <a:r>
              <a:rPr sz="3000" i="0" b="1">
                <a:solidFill>
                  <a:srgbClr val="0E2841"/>
                </a:solidFill>
              </a:rPr>
              <a:t>Building an ancestry-informed genotype-preprocessing pipeline</a:t>
            </a:r>
          </a:p>
          <a:p>
            <a:pPr algn="l"/>
            <a:r>
              <a:rPr sz="3000" i="0" b="1">
                <a:solidFill>
                  <a:srgbClr val="0E2841"/>
                </a:solidFill>
              </a:rPr>
              <a:t>and benchmarking local ancestry inference for Latino cohorts</a:t>
            </a:r>
          </a:p>
        </p:txBody>
      </p:sp>
      <p:sp>
        <p:nvSpPr>
          <p:cNvPr id="4" name="TextBox 3"/>
          <p:cNvSpPr txBox="1"/>
          <p:nvPr/>
        </p:nvSpPr>
        <p:spPr>
          <a:xfrm>
            <a:off x="640080" y="3383280"/>
            <a:ext cx="10972800" cy="457200"/>
          </a:xfrm>
          <a:prstGeom prst="rect">
            <a:avLst/>
          </a:prstGeom>
          <a:noFill/>
        </p:spPr>
        <p:txBody>
          <a:bodyPr wrap="square" lIns="0" rIns="0" tIns="0" bIns="0">
            <a:spAutoFit/>
          </a:bodyPr>
          <a:lstStyle/>
          <a:p>
            <a:pPr algn="l"/>
            <a:r>
              <a:rPr sz="1600" i="0" b="0">
                <a:solidFill>
                  <a:srgbClr val="1A1A1A"/>
                </a:solidFill>
              </a:rPr>
              <a:t>Christina Magyar  ·  GS4 Thesis Committee Update</a:t>
            </a:r>
          </a:p>
        </p:txBody>
      </p:sp>
      <p:sp>
        <p:nvSpPr>
          <p:cNvPr id="5" name="TextBox 4"/>
          <p:cNvSpPr txBox="1"/>
          <p:nvPr/>
        </p:nvSpPr>
        <p:spPr>
          <a:xfrm>
            <a:off x="640080" y="3886200"/>
            <a:ext cx="10972800" cy="365760"/>
          </a:xfrm>
          <a:prstGeom prst="rect">
            <a:avLst/>
          </a:prstGeom>
          <a:noFill/>
        </p:spPr>
        <p:txBody>
          <a:bodyPr wrap="square" lIns="0" rIns="0" tIns="0" bIns="0">
            <a:spAutoFit/>
          </a:bodyPr>
          <a:lstStyle/>
          <a:p>
            <a:pPr algn="l"/>
            <a:r>
              <a:rPr sz="1200" i="1" b="0">
                <a:solidFill>
                  <a:srgbClr val="666666"/>
                </a:solidFill>
              </a:rPr>
              <a:t>August 2026  ·  BCM MSTP · Genetics and Genomics</a:t>
            </a:r>
          </a:p>
        </p:txBody>
      </p:sp>
      <p:sp>
        <p:nvSpPr>
          <p:cNvPr id="6" name="TextBox 5"/>
          <p:cNvSpPr txBox="1"/>
          <p:nvPr/>
        </p:nvSpPr>
        <p:spPr>
          <a:xfrm>
            <a:off x="640080" y="4754880"/>
            <a:ext cx="10972800" cy="320040"/>
          </a:xfrm>
          <a:prstGeom prst="rect">
            <a:avLst/>
          </a:prstGeom>
          <a:noFill/>
        </p:spPr>
        <p:txBody>
          <a:bodyPr wrap="square" lIns="0" rIns="0" tIns="0" bIns="0">
            <a:spAutoFit/>
          </a:bodyPr>
          <a:lstStyle/>
          <a:p>
            <a:pPr algn="l"/>
            <a:r>
              <a:rPr sz="1000" i="0" b="1">
                <a:solidFill>
                  <a:srgbClr val="666666"/>
                </a:solidFill>
              </a:rPr>
              <a:t>Advisors</a:t>
            </a:r>
          </a:p>
        </p:txBody>
      </p:sp>
      <p:sp>
        <p:nvSpPr>
          <p:cNvPr id="7" name="TextBox 6"/>
          <p:cNvSpPr txBox="1"/>
          <p:nvPr/>
        </p:nvSpPr>
        <p:spPr>
          <a:xfrm>
            <a:off x="640080" y="5074920"/>
            <a:ext cx="10972800" cy="822960"/>
          </a:xfrm>
          <a:prstGeom prst="rect">
            <a:avLst/>
          </a:prstGeom>
          <a:noFill/>
        </p:spPr>
        <p:txBody>
          <a:bodyPr wrap="square" lIns="0" rIns="0" tIns="0" bIns="0">
            <a:spAutoFit/>
          </a:bodyPr>
          <a:lstStyle/>
          <a:p>
            <a:pPr algn="l"/>
            <a:r>
              <a:rPr sz="1300" i="0" b="0">
                <a:solidFill>
                  <a:srgbClr val="1A1A1A"/>
                </a:solidFill>
              </a:rPr>
              <a:t>Philip J. Lupo, PhD  (Thesis advisor)</a:t>
            </a:r>
          </a:p>
          <a:p>
            <a:pPr algn="l"/>
            <a:r>
              <a:rPr sz="1300" i="0" b="0">
                <a:solidFill>
                  <a:srgbClr val="1A1A1A"/>
                </a:solidFill>
              </a:rPr>
              <a:t>Elizabeth Atkinson, PhD  (Local advisor)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spAutoFit/>
          </a:bodyPr>
          <a:lstStyle/>
          <a:p>
            <a:r>
              <a:rPr sz="2400" b="1">
                <a:solidFill>
                  <a:srgbClr val="0E2841"/>
                </a:solidFill>
              </a:rPr>
              <a:t>Public Amerindigenous references are ~7× smaller than other continents.</a:t>
            </a:r>
          </a:p>
        </p:txBody>
      </p:sp>
      <p:sp>
        <p:nvSpPr>
          <p:cNvPr id="3" name="TextBox 2"/>
          <p:cNvSpPr txBox="1"/>
          <p:nvPr/>
        </p:nvSpPr>
        <p:spPr>
          <a:xfrm>
            <a:off x="502920" y="1051560"/>
            <a:ext cx="11155680" cy="365760"/>
          </a:xfrm>
          <a:prstGeom prst="rect">
            <a:avLst/>
          </a:prstGeom>
          <a:noFill/>
        </p:spPr>
        <p:txBody>
          <a:bodyPr wrap="square" lIns="0" rIns="0" tIns="0" bIns="0">
            <a:spAutoFit/>
          </a:bodyPr>
          <a:lstStyle/>
          <a:p>
            <a:pPr algn="l"/>
            <a:r>
              <a:rPr sz="1200" i="1" b="0">
                <a:solidFill>
                  <a:srgbClr val="666666"/>
                </a:solidFill>
              </a:rPr>
              <a:t>HGDP + 1000 Genomes reference haplotypes, by continental group</a:t>
            </a:r>
          </a:p>
        </p:txBody>
      </p:sp>
      <p:pic>
        <p:nvPicPr>
          <p:cNvPr id="4" name="Picture 3" descr="fig_amr_disparity.png"/>
          <p:cNvPicPr>
            <a:picLocks noChangeAspect="1"/>
          </p:cNvPicPr>
          <p:nvPr/>
        </p:nvPicPr>
        <p:blipFill>
          <a:blip r:embed="rId2"/>
          <a:stretch>
            <a:fillRect/>
          </a:stretch>
        </p:blipFill>
        <p:spPr>
          <a:xfrm>
            <a:off x="365760" y="1508760"/>
            <a:ext cx="11430000" cy="5182945"/>
          </a:xfrm>
          <a:prstGeom prst="rect">
            <a:avLst/>
          </a:prstGeom>
        </p:spPr>
      </p:pic>
      <p:sp>
        <p:nvSpPr>
          <p:cNvPr id="5" name="TextBox 4"/>
          <p:cNvSpPr txBox="1"/>
          <p:nvPr/>
        </p:nvSpPr>
        <p:spPr>
          <a:xfrm>
            <a:off x="502920" y="6080760"/>
            <a:ext cx="11155680" cy="411480"/>
          </a:xfrm>
          <a:prstGeom prst="rect">
            <a:avLst/>
          </a:prstGeom>
          <a:noFill/>
        </p:spPr>
        <p:txBody>
          <a:bodyPr wrap="square" lIns="0" rIns="0" tIns="0" bIns="0">
            <a:spAutoFit/>
          </a:bodyPr>
          <a:lstStyle/>
          <a:p>
            <a:pPr algn="l"/>
            <a:r>
              <a:rPr sz="1100" i="0" b="0">
                <a:solidFill>
                  <a:srgbClr val="1A1A1A"/>
                </a:solidFill>
              </a:rPr>
              <a:t>Adding 50 MX Biobank WGS samples brings AMR to 88 — still leaves Central America, Southern Cone, Amazon, Caribbean underrepresented.</a:t>
            </a:r>
          </a:p>
        </p:txBody>
      </p:sp>
      <p:sp>
        <p:nvSpPr>
          <p:cNvPr id="6" name="TextBox 5"/>
          <p:cNvSpPr txBox="1"/>
          <p:nvPr/>
        </p:nvSpPr>
        <p:spPr>
          <a:xfrm>
            <a:off x="502920" y="6537960"/>
            <a:ext cx="7315200" cy="274320"/>
          </a:xfrm>
          <a:prstGeom prst="rect">
            <a:avLst/>
          </a:prstGeom>
          <a:noFill/>
        </p:spPr>
        <p:txBody>
          <a:bodyPr wrap="square" lIns="0" rIns="0" tIns="0" bIns="0">
            <a:spAutoFit/>
          </a:bodyPr>
          <a:lstStyle/>
          <a:p>
            <a:pPr algn="l"/>
            <a:r>
              <a:rPr sz="900" i="0" b="0">
                <a:solidFill>
                  <a:srgbClr val="666666"/>
                </a:solidFill>
              </a:rPr>
              <a:t>Christina Magyar  ·  Thesis committee, Aug 2026  ·  Motivation</a:t>
            </a:r>
          </a:p>
        </p:txBody>
      </p:sp>
      <p:sp>
        <p:nvSpPr>
          <p:cNvPr id="7" name="TextBox 6"/>
          <p:cNvSpPr txBox="1"/>
          <p:nvPr/>
        </p:nvSpPr>
        <p:spPr>
          <a:xfrm>
            <a:off x="11338560" y="6537960"/>
            <a:ext cx="548640" cy="274320"/>
          </a:xfrm>
          <a:prstGeom prst="rect">
            <a:avLst/>
          </a:prstGeom>
          <a:noFill/>
        </p:spPr>
        <p:txBody>
          <a:bodyPr wrap="square" lIns="0" rIns="0" tIns="0" bIns="0">
            <a:spAutoFit/>
          </a:bodyPr>
          <a:lstStyle/>
          <a:p>
            <a:pPr algn="r"/>
            <a:r>
              <a:rPr sz="900" i="0" b="0">
                <a:solidFill>
                  <a:srgbClr val="666666"/>
                </a:solidFill>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spAutoFit/>
          </a:bodyPr>
          <a:lstStyle/>
          <a:p>
            <a:r>
              <a:rPr sz="2400" b="1">
                <a:solidFill>
                  <a:srgbClr val="0E2841"/>
                </a:solidFill>
              </a:rPr>
              <a:t>We simulated admixed cohorts to measure per-hap LAI recall.</a:t>
            </a:r>
          </a:p>
        </p:txBody>
      </p:sp>
      <p:sp>
        <p:nvSpPr>
          <p:cNvPr id="3" name="Rounded Rectangle 2"/>
          <p:cNvSpPr/>
          <p:nvPr/>
        </p:nvSpPr>
        <p:spPr>
          <a:xfrm>
            <a:off x="449427" y="1920240"/>
            <a:ext cx="2148840" cy="1920240"/>
          </a:xfrm>
          <a:prstGeom prst="roundRect">
            <a:avLst/>
          </a:prstGeom>
          <a:solidFill>
            <a:srgbClr val="E8E8E8"/>
          </a:solidFill>
          <a:ln w="635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tIns="80000" lIns="60000" rIns="60000"/>
          <a:lstStyle/>
          <a:p>
            <a:pPr algn="ctr"/>
            <a:r>
              <a:rPr sz="1300" b="1">
                <a:solidFill>
                  <a:srgbClr val="0E2841"/>
                </a:solidFill>
              </a:rPr>
              <a:t>Reference haps</a:t>
            </a:r>
          </a:p>
          <a:p>
            <a:pPr algn="ctr"/>
            <a:r>
              <a:rPr sz="1000">
                <a:solidFill>
                  <a:srgbClr val="1A1A1A"/>
                </a:solidFill>
              </a:rPr>
              <a:t>HGDP + 1KG</a:t>
            </a:r>
            <a:br/>
            <a:r>
              <a:rPr sz="1000">
                <a:solidFill>
                  <a:srgbClr val="1A1A1A"/>
                </a:solidFill>
              </a:rPr>
              <a:t>+ 50 MXB WGS</a:t>
            </a:r>
            <a:br/>
            <a:r>
              <a:rPr sz="1000">
                <a:solidFill>
                  <a:srgbClr val="1A1A1A"/>
                </a:solidFill>
              </a:rPr>
              <a:t>(6 panel combos)</a:t>
            </a:r>
          </a:p>
        </p:txBody>
      </p:sp>
      <p:sp>
        <p:nvSpPr>
          <p:cNvPr id="4" name="Right Arrow 3"/>
          <p:cNvSpPr/>
          <p:nvPr/>
        </p:nvSpPr>
        <p:spPr>
          <a:xfrm>
            <a:off x="2602839" y="2761488"/>
            <a:ext cx="128015" cy="256032"/>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35427" y="1920240"/>
            <a:ext cx="2148840" cy="1920240"/>
          </a:xfrm>
          <a:prstGeom prst="roundRect">
            <a:avLst/>
          </a:prstGeom>
          <a:solidFill>
            <a:srgbClr val="E8E8E8"/>
          </a:solidFill>
          <a:ln w="635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tIns="80000" lIns="60000" rIns="60000"/>
          <a:lstStyle/>
          <a:p>
            <a:pPr algn="ctr"/>
            <a:r>
              <a:rPr sz="1300" b="1">
                <a:solidFill>
                  <a:srgbClr val="0E2841"/>
                </a:solidFill>
              </a:rPr>
              <a:t>Phasing</a:t>
            </a:r>
          </a:p>
          <a:p>
            <a:pPr algn="ctr"/>
            <a:r>
              <a:rPr sz="1000">
                <a:solidFill>
                  <a:srgbClr val="1A1A1A"/>
                </a:solidFill>
              </a:rPr>
              <a:t>SHAPEIT5</a:t>
            </a:r>
            <a:br/>
            <a:r>
              <a:rPr sz="1000">
                <a:solidFill>
                  <a:srgbClr val="1A1A1A"/>
                </a:solidFill>
              </a:rPr>
              <a:t>population phasing</a:t>
            </a:r>
          </a:p>
        </p:txBody>
      </p:sp>
      <p:sp>
        <p:nvSpPr>
          <p:cNvPr id="6" name="Right Arrow 5"/>
          <p:cNvSpPr/>
          <p:nvPr/>
        </p:nvSpPr>
        <p:spPr>
          <a:xfrm>
            <a:off x="4888839" y="2761488"/>
            <a:ext cx="128015" cy="256032"/>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1427" y="1920240"/>
            <a:ext cx="2148840" cy="1920240"/>
          </a:xfrm>
          <a:prstGeom prst="roundRect">
            <a:avLst/>
          </a:prstGeom>
          <a:solidFill>
            <a:srgbClr val="E8E8E8"/>
          </a:solidFill>
          <a:ln w="635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tIns="80000" lIns="60000" rIns="60000"/>
          <a:lstStyle/>
          <a:p>
            <a:pPr algn="ctr"/>
            <a:r>
              <a:rPr sz="1300" b="1">
                <a:solidFill>
                  <a:srgbClr val="0E2841"/>
                </a:solidFill>
              </a:rPr>
              <a:t>Simulate admixed</a:t>
            </a:r>
          </a:p>
          <a:p>
            <a:pPr algn="ctr"/>
            <a:r>
              <a:rPr sz="1000">
                <a:solidFill>
                  <a:srgbClr val="1A1A1A"/>
                </a:solidFill>
              </a:rPr>
              <a:t>admix-simu</a:t>
            </a:r>
            <a:br/>
            <a:r>
              <a:rPr sz="1000">
                <a:solidFill>
                  <a:srgbClr val="1A1A1A"/>
                </a:solidFill>
              </a:rPr>
              <a:t>gen=12, n=30</a:t>
            </a:r>
            <a:br/>
            <a:r>
              <a:rPr sz="1000">
                <a:solidFill>
                  <a:srgbClr val="1A1A1A"/>
                </a:solidFill>
              </a:rPr>
              <a:t>Brasa &amp; MXB tracks</a:t>
            </a:r>
          </a:p>
        </p:txBody>
      </p:sp>
      <p:sp>
        <p:nvSpPr>
          <p:cNvPr id="8" name="Right Arrow 7"/>
          <p:cNvSpPr/>
          <p:nvPr/>
        </p:nvSpPr>
        <p:spPr>
          <a:xfrm>
            <a:off x="7174839" y="2761488"/>
            <a:ext cx="128015" cy="256032"/>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07427" y="1920240"/>
            <a:ext cx="2148840" cy="1920240"/>
          </a:xfrm>
          <a:prstGeom prst="roundRect">
            <a:avLst/>
          </a:prstGeom>
          <a:solidFill>
            <a:srgbClr val="E8E8E8"/>
          </a:solidFill>
          <a:ln w="635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tIns="80000" lIns="60000" rIns="60000"/>
          <a:lstStyle/>
          <a:p>
            <a:pPr algn="ctr"/>
            <a:r>
              <a:rPr sz="1300" b="1">
                <a:solidFill>
                  <a:srgbClr val="0E2841"/>
                </a:solidFill>
              </a:rPr>
              <a:t>Local ancestry</a:t>
            </a:r>
          </a:p>
          <a:p>
            <a:pPr algn="ctr"/>
            <a:r>
              <a:rPr sz="1000">
                <a:solidFill>
                  <a:srgbClr val="1A1A1A"/>
                </a:solidFill>
              </a:rPr>
              <a:t>RFMix v1 TrioPhased</a:t>
            </a:r>
            <a:br/>
            <a:r>
              <a:rPr sz="1000">
                <a:solidFill>
                  <a:srgbClr val="1A1A1A"/>
                </a:solidFill>
              </a:rPr>
              <a:t>22 chromosomes</a:t>
            </a:r>
          </a:p>
        </p:txBody>
      </p:sp>
      <p:sp>
        <p:nvSpPr>
          <p:cNvPr id="10" name="Right Arrow 9"/>
          <p:cNvSpPr/>
          <p:nvPr/>
        </p:nvSpPr>
        <p:spPr>
          <a:xfrm>
            <a:off x="9460839" y="2761488"/>
            <a:ext cx="128015" cy="256032"/>
          </a:xfrm>
          <a:prstGeom prst="rightArrow">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93427" y="1920240"/>
            <a:ext cx="2148840" cy="1920240"/>
          </a:xfrm>
          <a:prstGeom prst="roundRect">
            <a:avLst/>
          </a:prstGeom>
          <a:solidFill>
            <a:srgbClr val="E8E8E8"/>
          </a:solidFill>
          <a:ln w="635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tIns="80000" lIns="60000" rIns="60000"/>
          <a:lstStyle/>
          <a:p>
            <a:pPr algn="ctr"/>
            <a:r>
              <a:rPr sz="1300" b="1">
                <a:solidFill>
                  <a:srgbClr val="0E2841"/>
                </a:solidFill>
              </a:rPr>
              <a:t>Score</a:t>
            </a:r>
          </a:p>
          <a:p>
            <a:pPr algn="ctr"/>
            <a:r>
              <a:rPr sz="1000">
                <a:solidFill>
                  <a:srgbClr val="1A1A1A"/>
                </a:solidFill>
              </a:rPr>
              <a:t>per-hap recall</a:t>
            </a:r>
            <a:br/>
            <a:r>
              <a:rPr sz="1000">
                <a:solidFill>
                  <a:srgbClr val="1A1A1A"/>
                </a:solidFill>
              </a:rPr>
              <a:t>vs known truth</a:t>
            </a:r>
            <a:br/>
            <a:r>
              <a:rPr sz="1000">
                <a:solidFill>
                  <a:srgbClr val="1A1A1A"/>
                </a:solidFill>
              </a:rPr>
              <a:t>weighted concordance / F1</a:t>
            </a:r>
          </a:p>
        </p:txBody>
      </p:sp>
      <p:sp>
        <p:nvSpPr>
          <p:cNvPr id="12" name="TextBox 11"/>
          <p:cNvSpPr txBox="1"/>
          <p:nvPr/>
        </p:nvSpPr>
        <p:spPr>
          <a:xfrm>
            <a:off x="502920" y="4160520"/>
            <a:ext cx="11155680" cy="320040"/>
          </a:xfrm>
          <a:prstGeom prst="rect">
            <a:avLst/>
          </a:prstGeom>
          <a:noFill/>
        </p:spPr>
        <p:txBody>
          <a:bodyPr wrap="square" lIns="0" rIns="0" tIns="0" bIns="0">
            <a:spAutoFit/>
          </a:bodyPr>
          <a:lstStyle/>
          <a:p>
            <a:pPr algn="l"/>
            <a:r>
              <a:rPr sz="1300" i="0" b="1">
                <a:solidFill>
                  <a:srgbClr val="0E2841"/>
                </a:solidFill>
              </a:rPr>
              <a:t>Six reference-panel combinations tested</a:t>
            </a:r>
          </a:p>
        </p:txBody>
      </p:sp>
      <p:sp>
        <p:nvSpPr>
          <p:cNvPr id="13" name="Rounded Rectangle 12"/>
          <p:cNvSpPr/>
          <p:nvPr/>
        </p:nvSpPr>
        <p:spPr>
          <a:xfrm>
            <a:off x="502920" y="4572000"/>
            <a:ext cx="1874519" cy="960120"/>
          </a:xfrm>
          <a:prstGeom prst="roundRect">
            <a:avLst/>
          </a:prstGeom>
          <a:solidFill>
            <a:srgbClr val="E8E8E8"/>
          </a:solidFill>
          <a:ln w="1778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tIns="50000" lIns="80000" rIns="60000"/>
          <a:lstStyle/>
          <a:p>
            <a:pPr algn="l"/>
            <a:r>
              <a:rPr sz="1100" b="1">
                <a:solidFill>
                  <a:srgbClr val="666666"/>
                </a:solidFill>
              </a:rPr>
              <a:t>NAT_HGDP</a:t>
            </a:r>
          </a:p>
          <a:p>
            <a:pPr algn="l"/>
            <a:r>
              <a:rPr sz="950">
                <a:solidFill>
                  <a:srgbClr val="1A1A1A"/>
                </a:solidFill>
              </a:rPr>
              <a:t>26 HGDP + 5 LP</a:t>
            </a:r>
          </a:p>
        </p:txBody>
      </p:sp>
      <p:sp>
        <p:nvSpPr>
          <p:cNvPr id="14" name="Rounded Rectangle 13"/>
          <p:cNvSpPr/>
          <p:nvPr/>
        </p:nvSpPr>
        <p:spPr>
          <a:xfrm>
            <a:off x="2514600" y="4572000"/>
            <a:ext cx="1874519" cy="960120"/>
          </a:xfrm>
          <a:prstGeom prst="roundRect">
            <a:avLst/>
          </a:prstGeom>
          <a:solidFill>
            <a:srgbClr val="E8E8E8"/>
          </a:solidFill>
          <a:ln w="17780">
            <a:solidFill>
              <a:srgbClr val="E97132"/>
            </a:solidFill>
          </a:ln>
        </p:spPr>
        <p:style>
          <a:lnRef idx="1">
            <a:schemeClr val="accent1"/>
          </a:lnRef>
          <a:fillRef idx="3">
            <a:schemeClr val="accent1"/>
          </a:fillRef>
          <a:effectRef idx="2">
            <a:schemeClr val="accent1"/>
          </a:effectRef>
          <a:fontRef idx="minor">
            <a:schemeClr val="lt1"/>
          </a:fontRef>
        </p:style>
        <p:txBody>
          <a:bodyPr rtlCol="0" anchor="ctr" tIns="50000" lIns="80000" rIns="60000"/>
          <a:lstStyle/>
          <a:p>
            <a:pPr algn="l"/>
            <a:r>
              <a:rPr sz="1100" b="1">
                <a:solidFill>
                  <a:srgbClr val="E97132"/>
                </a:solidFill>
              </a:rPr>
              <a:t>NAT_HGDPMXB</a:t>
            </a:r>
          </a:p>
          <a:p>
            <a:pPr algn="l"/>
            <a:r>
              <a:rPr sz="950">
                <a:solidFill>
                  <a:srgbClr val="1A1A1A"/>
                </a:solidFill>
              </a:rPr>
              <a:t>+ 25 MXB</a:t>
            </a:r>
          </a:p>
        </p:txBody>
      </p:sp>
      <p:sp>
        <p:nvSpPr>
          <p:cNvPr id="15" name="Rounded Rectangle 14"/>
          <p:cNvSpPr/>
          <p:nvPr/>
        </p:nvSpPr>
        <p:spPr>
          <a:xfrm>
            <a:off x="4526279" y="4572000"/>
            <a:ext cx="1874519" cy="960120"/>
          </a:xfrm>
          <a:prstGeom prst="roundRect">
            <a:avLst/>
          </a:prstGeom>
          <a:solidFill>
            <a:srgbClr val="E8E8E8"/>
          </a:solidFill>
          <a:ln w="17780">
            <a:solidFill>
              <a:srgbClr val="E97132"/>
            </a:solidFill>
          </a:ln>
        </p:spPr>
        <p:style>
          <a:lnRef idx="1">
            <a:schemeClr val="accent1"/>
          </a:lnRef>
          <a:fillRef idx="3">
            <a:schemeClr val="accent1"/>
          </a:fillRef>
          <a:effectRef idx="2">
            <a:schemeClr val="accent1"/>
          </a:effectRef>
          <a:fontRef idx="minor">
            <a:schemeClr val="lt1"/>
          </a:fontRef>
        </p:style>
        <p:txBody>
          <a:bodyPr rtlCol="0" anchor="ctr" tIns="50000" lIns="80000" rIns="60000"/>
          <a:lstStyle/>
          <a:p>
            <a:pPr algn="l"/>
            <a:r>
              <a:rPr sz="1100" b="1">
                <a:solidFill>
                  <a:srgbClr val="E97132"/>
                </a:solidFill>
              </a:rPr>
              <a:t>NAT_HGDPMXB_FULL</a:t>
            </a:r>
          </a:p>
          <a:p>
            <a:pPr algn="l"/>
            <a:r>
              <a:rPr sz="950">
                <a:solidFill>
                  <a:srgbClr val="1A1A1A"/>
                </a:solidFill>
              </a:rPr>
              <a:t>+ 50 MXB</a:t>
            </a:r>
          </a:p>
        </p:txBody>
      </p:sp>
      <p:sp>
        <p:nvSpPr>
          <p:cNvPr id="16" name="Rounded Rectangle 15"/>
          <p:cNvSpPr/>
          <p:nvPr/>
        </p:nvSpPr>
        <p:spPr>
          <a:xfrm>
            <a:off x="502920" y="5577840"/>
            <a:ext cx="1874519" cy="960120"/>
          </a:xfrm>
          <a:prstGeom prst="roundRect">
            <a:avLst/>
          </a:prstGeom>
          <a:solidFill>
            <a:srgbClr val="E8E8E8"/>
          </a:solidFill>
          <a:ln w="17780">
            <a:solidFill>
              <a:srgbClr val="156082"/>
            </a:solidFill>
          </a:ln>
        </p:spPr>
        <p:style>
          <a:lnRef idx="1">
            <a:schemeClr val="accent1"/>
          </a:lnRef>
          <a:fillRef idx="3">
            <a:schemeClr val="accent1"/>
          </a:fillRef>
          <a:effectRef idx="2">
            <a:schemeClr val="accent1"/>
          </a:effectRef>
          <a:fontRef idx="minor">
            <a:schemeClr val="lt1"/>
          </a:fontRef>
        </p:style>
        <p:txBody>
          <a:bodyPr rtlCol="0" anchor="ctr" tIns="50000" lIns="80000" rIns="60000"/>
          <a:lstStyle/>
          <a:p>
            <a:pPr algn="l"/>
            <a:r>
              <a:rPr sz="1100" b="1">
                <a:solidFill>
                  <a:srgbClr val="156082"/>
                </a:solidFill>
              </a:rPr>
              <a:t>NAT_HOMOG</a:t>
            </a:r>
          </a:p>
          <a:p>
            <a:pPr algn="l"/>
            <a:r>
              <a:rPr sz="950">
                <a:solidFill>
                  <a:srgbClr val="1A1A1A"/>
                </a:solidFill>
              </a:rPr>
              <a:t>ADMIXTURE-homog Q≥0.95</a:t>
            </a:r>
          </a:p>
        </p:txBody>
      </p:sp>
      <p:sp>
        <p:nvSpPr>
          <p:cNvPr id="17" name="Rounded Rectangle 16"/>
          <p:cNvSpPr/>
          <p:nvPr/>
        </p:nvSpPr>
        <p:spPr>
          <a:xfrm>
            <a:off x="2514600" y="5577840"/>
            <a:ext cx="1874519" cy="960120"/>
          </a:xfrm>
          <a:prstGeom prst="roundRect">
            <a:avLst/>
          </a:prstGeom>
          <a:solidFill>
            <a:srgbClr val="E8E8E8"/>
          </a:solidFill>
          <a:ln w="17780">
            <a:solidFill>
              <a:srgbClr val="196B24"/>
            </a:solidFill>
          </a:ln>
        </p:spPr>
        <p:style>
          <a:lnRef idx="1">
            <a:schemeClr val="accent1"/>
          </a:lnRef>
          <a:fillRef idx="3">
            <a:schemeClr val="accent1"/>
          </a:fillRef>
          <a:effectRef idx="2">
            <a:schemeClr val="accent1"/>
          </a:effectRef>
          <a:fontRef idx="minor">
            <a:schemeClr val="lt1"/>
          </a:fontRef>
        </p:style>
        <p:txBody>
          <a:bodyPr rtlCol="0" anchor="ctr" tIns="50000" lIns="80000" rIns="60000"/>
          <a:lstStyle/>
          <a:p>
            <a:pPr algn="l"/>
            <a:r>
              <a:rPr sz="1100" b="1">
                <a:solidFill>
                  <a:srgbClr val="196B24"/>
                </a:solidFill>
              </a:rPr>
              <a:t>NAT_PEL</a:t>
            </a:r>
          </a:p>
          <a:p>
            <a:pPr algn="l"/>
            <a:r>
              <a:rPr sz="950">
                <a:solidFill>
                  <a:srgbClr val="1A1A1A"/>
                </a:solidFill>
              </a:rPr>
              <a:t>adds 9 PEL (Peru)</a:t>
            </a:r>
          </a:p>
        </p:txBody>
      </p:sp>
      <p:sp>
        <p:nvSpPr>
          <p:cNvPr id="18" name="Rounded Rectangle 17"/>
          <p:cNvSpPr/>
          <p:nvPr/>
        </p:nvSpPr>
        <p:spPr>
          <a:xfrm>
            <a:off x="4526279" y="5577840"/>
            <a:ext cx="1874519" cy="960120"/>
          </a:xfrm>
          <a:prstGeom prst="roundRect">
            <a:avLst/>
          </a:prstGeom>
          <a:solidFill>
            <a:srgbClr val="E8E8E8"/>
          </a:solidFill>
          <a:ln w="17780">
            <a:solidFill>
              <a:srgbClr val="196B24"/>
            </a:solidFill>
          </a:ln>
        </p:spPr>
        <p:style>
          <a:lnRef idx="1">
            <a:schemeClr val="accent1"/>
          </a:lnRef>
          <a:fillRef idx="3">
            <a:schemeClr val="accent1"/>
          </a:fillRef>
          <a:effectRef idx="2">
            <a:schemeClr val="accent1"/>
          </a:effectRef>
          <a:fontRef idx="minor">
            <a:schemeClr val="lt1"/>
          </a:fontRef>
        </p:style>
        <p:txBody>
          <a:bodyPr rtlCol="0" anchor="ctr" tIns="50000" lIns="80000" rIns="60000"/>
          <a:lstStyle/>
          <a:p>
            <a:pPr algn="l"/>
            <a:r>
              <a:rPr sz="1100" b="1">
                <a:solidFill>
                  <a:srgbClr val="196B24"/>
                </a:solidFill>
              </a:rPr>
              <a:t>NAT_PEL_EAS</a:t>
            </a:r>
          </a:p>
          <a:p>
            <a:pPr algn="l"/>
            <a:r>
              <a:rPr sz="950">
                <a:solidFill>
                  <a:srgbClr val="1A1A1A"/>
                </a:solidFill>
              </a:rPr>
              <a:t>PEL + EAS outgroup</a:t>
            </a:r>
          </a:p>
        </p:txBody>
      </p:sp>
      <p:sp>
        <p:nvSpPr>
          <p:cNvPr id="19" name="TextBox 18"/>
          <p:cNvSpPr txBox="1"/>
          <p:nvPr/>
        </p:nvSpPr>
        <p:spPr>
          <a:xfrm>
            <a:off x="6537960" y="4572000"/>
            <a:ext cx="5212080" cy="320040"/>
          </a:xfrm>
          <a:prstGeom prst="rect">
            <a:avLst/>
          </a:prstGeom>
          <a:noFill/>
        </p:spPr>
        <p:txBody>
          <a:bodyPr wrap="square" lIns="0" rIns="0" tIns="0" bIns="0">
            <a:spAutoFit/>
          </a:bodyPr>
          <a:lstStyle/>
          <a:p>
            <a:pPr algn="l"/>
            <a:r>
              <a:rPr sz="1300" i="0" b="1">
                <a:solidFill>
                  <a:srgbClr val="0E2841"/>
                </a:solidFill>
              </a:rPr>
              <a:t>Two simulated admixed cohorts</a:t>
            </a:r>
          </a:p>
        </p:txBody>
      </p:sp>
      <p:sp>
        <p:nvSpPr>
          <p:cNvPr id="20" name="TextBox 19"/>
          <p:cNvSpPr txBox="1"/>
          <p:nvPr/>
        </p:nvSpPr>
        <p:spPr>
          <a:xfrm>
            <a:off x="6537960" y="4937760"/>
            <a:ext cx="5212080" cy="1508760"/>
          </a:xfrm>
          <a:prstGeom prst="rect">
            <a:avLst/>
          </a:prstGeom>
          <a:noFill/>
        </p:spPr>
        <p:txBody>
          <a:bodyPr wrap="square" lIns="0" rIns="0" tIns="0" bIns="0">
            <a:spAutoFit/>
          </a:bodyPr>
          <a:lstStyle/>
          <a:p>
            <a:pPr algn="l"/>
            <a:r>
              <a:rPr sz="1100" i="0" b="0">
                <a:solidFill>
                  <a:srgbClr val="1A1A1A"/>
                </a:solidFill>
              </a:rPr>
              <a:t>•  Brasa track — 15% NAT / 60% EUR / 25% AFR</a:t>
            </a:r>
          </a:p>
          <a:p>
            <a:pPr algn="l"/>
            <a:r>
              <a:rPr sz="1100" i="0" b="0">
                <a:solidFill>
                  <a:srgbClr val="1A1A1A"/>
                </a:solidFill>
              </a:rPr>
              <a:t>     (Brazilian-like ancestry proportions)</a:t>
            </a:r>
          </a:p>
          <a:p>
            <a:pPr algn="l"/>
            <a:r>
              <a:rPr sz="1100" i="0" b="0">
                <a:solidFill>
                  <a:srgbClr val="1A1A1A"/>
                </a:solidFill>
              </a:rPr>
              <a:t>•  MXB track — Mexican-like ancestry proportions</a:t>
            </a:r>
          </a:p>
          <a:p>
            <a:pPr algn="l"/>
            <a:r>
              <a:rPr sz="1100" i="0" b="0">
                <a:solidFill>
                  <a:srgbClr val="1A1A1A"/>
                </a:solidFill>
              </a:rPr>
              <a:t>     (tests whether MXB helps a Mexican cohort)</a:t>
            </a:r>
          </a:p>
        </p:txBody>
      </p:sp>
      <p:sp>
        <p:nvSpPr>
          <p:cNvPr id="21" name="TextBox 20"/>
          <p:cNvSpPr txBox="1"/>
          <p:nvPr/>
        </p:nvSpPr>
        <p:spPr>
          <a:xfrm>
            <a:off x="502920" y="6537960"/>
            <a:ext cx="7315200" cy="274320"/>
          </a:xfrm>
          <a:prstGeom prst="rect">
            <a:avLst/>
          </a:prstGeom>
          <a:noFill/>
        </p:spPr>
        <p:txBody>
          <a:bodyPr wrap="square" lIns="0" rIns="0" tIns="0" bIns="0">
            <a:spAutoFit/>
          </a:bodyPr>
          <a:lstStyle/>
          <a:p>
            <a:pPr algn="l"/>
            <a:r>
              <a:rPr sz="900" i="0" b="0">
                <a:solidFill>
                  <a:srgbClr val="666666"/>
                </a:solidFill>
              </a:rPr>
              <a:t>Christina Magyar  ·  Thesis committee, Aug 2026  ·  Methods</a:t>
            </a:r>
          </a:p>
        </p:txBody>
      </p:sp>
      <p:sp>
        <p:nvSpPr>
          <p:cNvPr id="22" name="TextBox 21"/>
          <p:cNvSpPr txBox="1"/>
          <p:nvPr/>
        </p:nvSpPr>
        <p:spPr>
          <a:xfrm>
            <a:off x="11338560" y="6537960"/>
            <a:ext cx="548640" cy="274320"/>
          </a:xfrm>
          <a:prstGeom prst="rect">
            <a:avLst/>
          </a:prstGeom>
          <a:noFill/>
        </p:spPr>
        <p:txBody>
          <a:bodyPr wrap="square" lIns="0" rIns="0" tIns="0" bIns="0">
            <a:spAutoFit/>
          </a:bodyPr>
          <a:lstStyle/>
          <a:p>
            <a:pPr algn="r"/>
            <a:r>
              <a:rPr sz="900" i="0" b="0">
                <a:solidFill>
                  <a:srgbClr val="666666"/>
                </a:solidFill>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spAutoFit/>
          </a:bodyPr>
          <a:lstStyle/>
          <a:p>
            <a:r>
              <a:rPr sz="2400" b="1">
                <a:solidFill>
                  <a:srgbClr val="0E2841"/>
                </a:solidFill>
              </a:rPr>
              <a:t>Panel choice moves AMR recall by ~3%; EUR and AFR sit near ceiling.</a:t>
            </a:r>
          </a:p>
        </p:txBody>
      </p:sp>
      <p:sp>
        <p:nvSpPr>
          <p:cNvPr id="3" name="TextBox 2"/>
          <p:cNvSpPr txBox="1"/>
          <p:nvPr/>
        </p:nvSpPr>
        <p:spPr>
          <a:xfrm>
            <a:off x="502920" y="1051560"/>
            <a:ext cx="11155680" cy="365760"/>
          </a:xfrm>
          <a:prstGeom prst="rect">
            <a:avLst/>
          </a:prstGeom>
          <a:noFill/>
        </p:spPr>
        <p:txBody>
          <a:bodyPr wrap="square" lIns="0" rIns="0" tIns="0" bIns="0">
            <a:spAutoFit/>
          </a:bodyPr>
          <a:lstStyle/>
          <a:p>
            <a:pPr algn="l"/>
            <a:r>
              <a:rPr sz="1200" i="1" b="0">
                <a:solidFill>
                  <a:srgbClr val="666666"/>
                </a:solidFill>
              </a:rPr>
              <a:t>Weighted per-hap recall by ancestry, WGS density, chr20-22 pilot</a:t>
            </a:r>
          </a:p>
        </p:txBody>
      </p:sp>
      <p:pic>
        <p:nvPicPr>
          <p:cNvPr id="4" name="Picture 3" descr="fig_wgs_all_ancestry.png"/>
          <p:cNvPicPr>
            <a:picLocks noChangeAspect="1"/>
          </p:cNvPicPr>
          <p:nvPr/>
        </p:nvPicPr>
        <p:blipFill>
          <a:blip r:embed="rId2"/>
          <a:stretch>
            <a:fillRect/>
          </a:stretch>
        </p:blipFill>
        <p:spPr>
          <a:xfrm>
            <a:off x="502920" y="1417320"/>
            <a:ext cx="11155680" cy="5492027"/>
          </a:xfrm>
          <a:prstGeom prst="rect">
            <a:avLst/>
          </a:prstGeom>
        </p:spPr>
      </p:pic>
      <p:sp>
        <p:nvSpPr>
          <p:cNvPr id="5" name="TextBox 4"/>
          <p:cNvSpPr txBox="1"/>
          <p:nvPr/>
        </p:nvSpPr>
        <p:spPr>
          <a:xfrm>
            <a:off x="502920" y="6172200"/>
            <a:ext cx="11155680" cy="320040"/>
          </a:xfrm>
          <a:prstGeom prst="rect">
            <a:avLst/>
          </a:prstGeom>
          <a:noFill/>
        </p:spPr>
        <p:txBody>
          <a:bodyPr wrap="square" lIns="0" rIns="0" tIns="0" bIns="0">
            <a:spAutoFit/>
          </a:bodyPr>
          <a:lstStyle/>
          <a:p>
            <a:pPr algn="l"/>
            <a:r>
              <a:rPr sz="1200" i="1" b="0">
                <a:solidFill>
                  <a:srgbClr val="1A1A1A"/>
                </a:solidFill>
              </a:rPr>
              <a:t>→  AMR is where reference-panel choice actually matters — so the rest of the deck focuses on AMR recall.</a:t>
            </a:r>
          </a:p>
        </p:txBody>
      </p:sp>
      <p:sp>
        <p:nvSpPr>
          <p:cNvPr id="6" name="TextBox 5"/>
          <p:cNvSpPr txBox="1"/>
          <p:nvPr/>
        </p:nvSpPr>
        <p:spPr>
          <a:xfrm>
            <a:off x="502920" y="6537960"/>
            <a:ext cx="7315200" cy="274320"/>
          </a:xfrm>
          <a:prstGeom prst="rect">
            <a:avLst/>
          </a:prstGeom>
          <a:noFill/>
        </p:spPr>
        <p:txBody>
          <a:bodyPr wrap="square" lIns="0" rIns="0" tIns="0" bIns="0">
            <a:spAutoFit/>
          </a:bodyPr>
          <a:lstStyle/>
          <a:p>
            <a:pPr algn="l"/>
            <a:r>
              <a:rPr sz="900" i="0" b="0">
                <a:solidFill>
                  <a:srgbClr val="666666"/>
                </a:solidFill>
              </a:rPr>
              <a:t>Christina Magyar  ·  Thesis committee, Aug 2026  ·  Result overview</a:t>
            </a:r>
          </a:p>
        </p:txBody>
      </p:sp>
      <p:sp>
        <p:nvSpPr>
          <p:cNvPr id="7" name="TextBox 6"/>
          <p:cNvSpPr txBox="1"/>
          <p:nvPr/>
        </p:nvSpPr>
        <p:spPr>
          <a:xfrm>
            <a:off x="11338560" y="6537960"/>
            <a:ext cx="548640" cy="274320"/>
          </a:xfrm>
          <a:prstGeom prst="rect">
            <a:avLst/>
          </a:prstGeom>
          <a:noFill/>
        </p:spPr>
        <p:txBody>
          <a:bodyPr wrap="square" lIns="0" rIns="0" tIns="0" bIns="0">
            <a:spAutoFit/>
          </a:bodyPr>
          <a:lstStyle/>
          <a:p>
            <a:pPr algn="r"/>
            <a:r>
              <a:rPr sz="900" i="0" b="0">
                <a:solidFill>
                  <a:srgbClr val="666666"/>
                </a:solidFill>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spAutoFit/>
          </a:bodyPr>
          <a:lstStyle/>
          <a:p>
            <a:r>
              <a:rPr sz="2400" b="1">
                <a:solidFill>
                  <a:srgbClr val="0E2841"/>
                </a:solidFill>
              </a:rPr>
              <a:t>Best reference panel depends on the target cohort's composition.</a:t>
            </a:r>
          </a:p>
        </p:txBody>
      </p:sp>
      <p:sp>
        <p:nvSpPr>
          <p:cNvPr id="3" name="TextBox 2"/>
          <p:cNvSpPr txBox="1"/>
          <p:nvPr/>
        </p:nvSpPr>
        <p:spPr>
          <a:xfrm>
            <a:off x="502920" y="1051560"/>
            <a:ext cx="11155680" cy="365760"/>
          </a:xfrm>
          <a:prstGeom prst="rect">
            <a:avLst/>
          </a:prstGeom>
          <a:noFill/>
        </p:spPr>
        <p:txBody>
          <a:bodyPr wrap="square" lIns="0" rIns="0" tIns="0" bIns="0">
            <a:spAutoFit/>
          </a:bodyPr>
          <a:lstStyle/>
          <a:p>
            <a:pPr algn="l"/>
            <a:r>
              <a:rPr sz="1200" i="1" b="0">
                <a:solidFill>
                  <a:srgbClr val="666666"/>
                </a:solidFill>
              </a:rPr>
              <a:t>Weighted NAT-ancestry recall, WGS density, chr20-22 pilot</a:t>
            </a:r>
          </a:p>
        </p:txBody>
      </p:sp>
      <p:pic>
        <p:nvPicPr>
          <p:cNvPr id="4" name="Picture 3" descr="fig_wgs_panels.png"/>
          <p:cNvPicPr>
            <a:picLocks noChangeAspect="1"/>
          </p:cNvPicPr>
          <p:nvPr/>
        </p:nvPicPr>
        <p:blipFill>
          <a:blip r:embed="rId2"/>
          <a:stretch>
            <a:fillRect/>
          </a:stretch>
        </p:blipFill>
        <p:spPr>
          <a:xfrm>
            <a:off x="502920" y="1508760"/>
            <a:ext cx="7498079" cy="3599078"/>
          </a:xfrm>
          <a:prstGeom prst="rect">
            <a:avLst/>
          </a:prstGeom>
        </p:spPr>
      </p:pic>
      <p:sp>
        <p:nvSpPr>
          <p:cNvPr id="5" name="TextBox 4"/>
          <p:cNvSpPr txBox="1"/>
          <p:nvPr/>
        </p:nvSpPr>
        <p:spPr>
          <a:xfrm>
            <a:off x="8275320" y="1600200"/>
            <a:ext cx="3566160" cy="365760"/>
          </a:xfrm>
          <a:prstGeom prst="rect">
            <a:avLst/>
          </a:prstGeom>
          <a:noFill/>
        </p:spPr>
        <p:txBody>
          <a:bodyPr wrap="square" lIns="0" rIns="0" tIns="0" bIns="0">
            <a:spAutoFit/>
          </a:bodyPr>
          <a:lstStyle/>
          <a:p>
            <a:pPr algn="l"/>
            <a:r>
              <a:rPr sz="1300" i="0" b="1">
                <a:solidFill>
                  <a:srgbClr val="0E2841"/>
                </a:solidFill>
              </a:rPr>
              <a:t>Takeaways</a:t>
            </a:r>
          </a:p>
        </p:txBody>
      </p:sp>
      <p:sp>
        <p:nvSpPr>
          <p:cNvPr id="6" name="TextBox 5"/>
          <p:cNvSpPr txBox="1"/>
          <p:nvPr/>
        </p:nvSpPr>
        <p:spPr>
          <a:xfrm>
            <a:off x="8275320" y="1965960"/>
            <a:ext cx="3611880" cy="4023360"/>
          </a:xfrm>
          <a:prstGeom prst="rect">
            <a:avLst/>
          </a:prstGeom>
          <a:noFill/>
        </p:spPr>
        <p:txBody>
          <a:bodyPr wrap="square" lIns="0" rIns="0" tIns="0" bIns="0">
            <a:spAutoFit/>
          </a:bodyPr>
          <a:lstStyle/>
          <a:p>
            <a:pPr algn="l"/>
            <a:r>
              <a:rPr sz="1050" i="0" b="0">
                <a:solidFill>
                  <a:srgbClr val="1A1A1A"/>
                </a:solidFill>
              </a:rPr>
              <a:t>For a Mexican-like cohort (blue bars):</a:t>
            </a:r>
          </a:p>
          <a:p>
            <a:pPr algn="l"/>
            <a:r>
              <a:rPr sz="1050" i="0" b="0">
                <a:solidFill>
                  <a:srgbClr val="1A1A1A"/>
                </a:solidFill>
              </a:rPr>
              <a:t>•  Adding 25 MXB samples</a:t>
            </a:r>
          </a:p>
          <a:p>
            <a:pPr algn="l"/>
            <a:r>
              <a:rPr sz="1050" i="0" b="0">
                <a:solidFill>
                  <a:srgbClr val="1A1A1A"/>
                </a:solidFill>
              </a:rPr>
              <a:t>    lifts NAT recall  0.931 → 0.942</a:t>
            </a:r>
          </a:p>
          <a:p>
            <a:pPr algn="l"/>
          </a:p>
          <a:p>
            <a:pPr algn="l"/>
            <a:r>
              <a:rPr sz="1050" i="0" b="0">
                <a:solidFill>
                  <a:srgbClr val="1A1A1A"/>
                </a:solidFill>
              </a:rPr>
              <a:t>For a Brazilian-like cohort (red bars):</a:t>
            </a:r>
          </a:p>
          <a:p>
            <a:pPr algn="l"/>
            <a:r>
              <a:rPr sz="1050" i="0" b="0">
                <a:solidFill>
                  <a:srgbClr val="1A1A1A"/>
                </a:solidFill>
              </a:rPr>
              <a:t>•  PEL (Peru) panel wins on NAT</a:t>
            </a:r>
          </a:p>
          <a:p>
            <a:pPr algn="l"/>
            <a:r>
              <a:rPr sz="1050" i="0" b="0">
                <a:solidFill>
                  <a:srgbClr val="1A1A1A"/>
                </a:solidFill>
              </a:rPr>
              <a:t>    HGDPMXB actually loses ~2%</a:t>
            </a:r>
          </a:p>
          <a:p>
            <a:pPr algn="l"/>
            <a:r>
              <a:rPr sz="1050" i="0" b="0">
                <a:solidFill>
                  <a:srgbClr val="1A1A1A"/>
                </a:solidFill>
              </a:rPr>
              <a:t>•  Adding non-Mexican ancestry</a:t>
            </a:r>
          </a:p>
          <a:p>
            <a:pPr algn="l"/>
            <a:r>
              <a:rPr sz="1050" i="0" b="0">
                <a:solidFill>
                  <a:srgbClr val="1A1A1A"/>
                </a:solidFill>
              </a:rPr>
              <a:t>    to a Mexican reference hurts</a:t>
            </a:r>
          </a:p>
          <a:p>
            <a:pPr algn="l"/>
          </a:p>
          <a:p>
            <a:pPr algn="l"/>
            <a:r>
              <a:rPr sz="1050" i="0" b="0">
                <a:solidFill>
                  <a:srgbClr val="1A1A1A"/>
                </a:solidFill>
              </a:rPr>
              <a:t>→  Panel-choice must match the</a:t>
            </a:r>
          </a:p>
          <a:p>
            <a:pPr algn="l"/>
            <a:r>
              <a:rPr sz="1050" i="0" b="0">
                <a:solidFill>
                  <a:srgbClr val="1A1A1A"/>
                </a:solidFill>
              </a:rPr>
              <a:t>     target cohort, not the largest</a:t>
            </a:r>
          </a:p>
          <a:p>
            <a:pPr algn="l"/>
            <a:r>
              <a:rPr sz="1050" i="0" b="0">
                <a:solidFill>
                  <a:srgbClr val="1A1A1A"/>
                </a:solidFill>
              </a:rPr>
              <a:t>     available sample source.</a:t>
            </a:r>
          </a:p>
        </p:txBody>
      </p:sp>
      <p:sp>
        <p:nvSpPr>
          <p:cNvPr id="7" name="TextBox 6"/>
          <p:cNvSpPr txBox="1"/>
          <p:nvPr/>
        </p:nvSpPr>
        <p:spPr>
          <a:xfrm>
            <a:off x="502920" y="6537960"/>
            <a:ext cx="7315200" cy="274320"/>
          </a:xfrm>
          <a:prstGeom prst="rect">
            <a:avLst/>
          </a:prstGeom>
          <a:noFill/>
        </p:spPr>
        <p:txBody>
          <a:bodyPr wrap="square" lIns="0" rIns="0" tIns="0" bIns="0">
            <a:spAutoFit/>
          </a:bodyPr>
          <a:lstStyle/>
          <a:p>
            <a:pPr algn="l"/>
            <a:r>
              <a:rPr sz="900" i="0" b="0">
                <a:solidFill>
                  <a:srgbClr val="666666"/>
                </a:solidFill>
              </a:rPr>
              <a:t>Christina Magyar  ·  Thesis committee, Aug 2026  ·  Result · AMR zoom</a:t>
            </a:r>
          </a:p>
        </p:txBody>
      </p:sp>
      <p:sp>
        <p:nvSpPr>
          <p:cNvPr id="8" name="TextBox 7"/>
          <p:cNvSpPr txBox="1"/>
          <p:nvPr/>
        </p:nvSpPr>
        <p:spPr>
          <a:xfrm>
            <a:off x="11338560" y="6537960"/>
            <a:ext cx="548640" cy="274320"/>
          </a:xfrm>
          <a:prstGeom prst="rect">
            <a:avLst/>
          </a:prstGeom>
          <a:noFill/>
        </p:spPr>
        <p:txBody>
          <a:bodyPr wrap="square" lIns="0" rIns="0" tIns="0" bIns="0">
            <a:spAutoFit/>
          </a:bodyPr>
          <a:lstStyle/>
          <a:p>
            <a:pPr algn="r"/>
            <a:r>
              <a:rPr sz="900" i="0" b="0">
                <a:solidFill>
                  <a:srgbClr val="666666"/>
                </a:solidFill>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spAutoFit/>
          </a:bodyPr>
          <a:lstStyle/>
          <a:p>
            <a:r>
              <a:rPr sz="2400" b="1">
                <a:solidFill>
                  <a:srgbClr val="0E2841"/>
                </a:solidFill>
              </a:rPr>
              <a:t>Chip-density LAI holds within ~1% of WGS on a Mexican-like cohort.</a:t>
            </a:r>
          </a:p>
        </p:txBody>
      </p:sp>
      <p:sp>
        <p:nvSpPr>
          <p:cNvPr id="3" name="TextBox 2"/>
          <p:cNvSpPr txBox="1"/>
          <p:nvPr/>
        </p:nvSpPr>
        <p:spPr>
          <a:xfrm>
            <a:off x="502920" y="1051560"/>
            <a:ext cx="11155680" cy="365760"/>
          </a:xfrm>
          <a:prstGeom prst="rect">
            <a:avLst/>
          </a:prstGeom>
          <a:noFill/>
        </p:spPr>
        <p:txBody>
          <a:bodyPr wrap="square" lIns="0" rIns="0" tIns="0" bIns="0">
            <a:spAutoFit/>
          </a:bodyPr>
          <a:lstStyle/>
          <a:p>
            <a:pPr algn="l"/>
            <a:r>
              <a:rPr sz="1200" i="1" b="0">
                <a:solidFill>
                  <a:srgbClr val="666666"/>
                </a:solidFill>
              </a:rPr>
              <a:t>Illumina GSA v3 chip vs full WGS density, same reference panels</a:t>
            </a:r>
          </a:p>
        </p:txBody>
      </p:sp>
      <p:pic>
        <p:nvPicPr>
          <p:cNvPr id="4" name="Picture 3" descr="fig_chip_vs_wgs.png"/>
          <p:cNvPicPr>
            <a:picLocks noChangeAspect="1"/>
          </p:cNvPicPr>
          <p:nvPr/>
        </p:nvPicPr>
        <p:blipFill>
          <a:blip r:embed="rId2"/>
          <a:stretch>
            <a:fillRect/>
          </a:stretch>
        </p:blipFill>
        <p:spPr>
          <a:xfrm>
            <a:off x="502920" y="1508760"/>
            <a:ext cx="7680960" cy="3609547"/>
          </a:xfrm>
          <a:prstGeom prst="rect">
            <a:avLst/>
          </a:prstGeom>
        </p:spPr>
      </p:pic>
      <p:sp>
        <p:nvSpPr>
          <p:cNvPr id="5" name="TextBox 4"/>
          <p:cNvSpPr txBox="1"/>
          <p:nvPr/>
        </p:nvSpPr>
        <p:spPr>
          <a:xfrm>
            <a:off x="8366760" y="1600200"/>
            <a:ext cx="3566160" cy="365760"/>
          </a:xfrm>
          <a:prstGeom prst="rect">
            <a:avLst/>
          </a:prstGeom>
          <a:noFill/>
        </p:spPr>
        <p:txBody>
          <a:bodyPr wrap="square" lIns="0" rIns="0" tIns="0" bIns="0">
            <a:spAutoFit/>
          </a:bodyPr>
          <a:lstStyle/>
          <a:p>
            <a:pPr algn="l"/>
            <a:r>
              <a:rPr sz="1300" i="0" b="1">
                <a:solidFill>
                  <a:srgbClr val="0E2841"/>
                </a:solidFill>
              </a:rPr>
              <a:t>Implications for GWAS</a:t>
            </a:r>
          </a:p>
        </p:txBody>
      </p:sp>
      <p:sp>
        <p:nvSpPr>
          <p:cNvPr id="6" name="TextBox 5"/>
          <p:cNvSpPr txBox="1"/>
          <p:nvPr/>
        </p:nvSpPr>
        <p:spPr>
          <a:xfrm>
            <a:off x="8366760" y="1965960"/>
            <a:ext cx="3611880" cy="4023360"/>
          </a:xfrm>
          <a:prstGeom prst="rect">
            <a:avLst/>
          </a:prstGeom>
          <a:noFill/>
        </p:spPr>
        <p:txBody>
          <a:bodyPr wrap="square" lIns="0" rIns="0" tIns="0" bIns="0">
            <a:spAutoFit/>
          </a:bodyPr>
          <a:lstStyle/>
          <a:p>
            <a:pPr algn="l"/>
            <a:r>
              <a:rPr sz="1050" i="0" b="0">
                <a:solidFill>
                  <a:srgbClr val="1A1A1A"/>
                </a:solidFill>
              </a:rPr>
              <a:t>•  REDIAL / COG cohorts are</a:t>
            </a:r>
          </a:p>
          <a:p>
            <a:pPr algn="l"/>
            <a:r>
              <a:rPr sz="1050" i="0" b="0">
                <a:solidFill>
                  <a:srgbClr val="1A1A1A"/>
                </a:solidFill>
              </a:rPr>
              <a:t>    genotyped on chip, not WGS —</a:t>
            </a:r>
          </a:p>
          <a:p>
            <a:pPr algn="l"/>
            <a:r>
              <a:rPr sz="1050" i="0" b="0">
                <a:solidFill>
                  <a:srgbClr val="1A1A1A"/>
                </a:solidFill>
              </a:rPr>
              <a:t>    LAI accuracy holds if we</a:t>
            </a:r>
          </a:p>
          <a:p>
            <a:pPr algn="l"/>
            <a:r>
              <a:rPr sz="1050" i="0" b="0">
                <a:solidFill>
                  <a:srgbClr val="1A1A1A"/>
                </a:solidFill>
              </a:rPr>
              <a:t>    use the MXB-augmented panel</a:t>
            </a:r>
          </a:p>
          <a:p>
            <a:pPr algn="l"/>
          </a:p>
          <a:p>
            <a:pPr algn="l"/>
            <a:r>
              <a:rPr sz="1050" i="0" b="0">
                <a:solidFill>
                  <a:srgbClr val="1A1A1A"/>
                </a:solidFill>
              </a:rPr>
              <a:t>•  Chip → TOPMed imputation is</a:t>
            </a:r>
          </a:p>
          <a:p>
            <a:pPr algn="l"/>
            <a:r>
              <a:rPr sz="1050" i="0" b="0">
                <a:solidFill>
                  <a:srgbClr val="1A1A1A"/>
                </a:solidFill>
              </a:rPr>
              <a:t>    the next validation step</a:t>
            </a:r>
          </a:p>
          <a:p>
            <a:pPr algn="l"/>
            <a:r>
              <a:rPr sz="1050" i="0" b="0">
                <a:solidFill>
                  <a:srgbClr val="1A1A1A"/>
                </a:solidFill>
              </a:rPr>
              <a:t>    (Michigan / 1KG post-meeting)</a:t>
            </a:r>
          </a:p>
          <a:p>
            <a:pPr algn="l"/>
          </a:p>
          <a:p>
            <a:pPr algn="l"/>
            <a:r>
              <a:rPr sz="1050" i="0" b="0">
                <a:solidFill>
                  <a:srgbClr val="1A1A1A"/>
                </a:solidFill>
              </a:rPr>
              <a:t>•  Panel ranking preserved</a:t>
            </a:r>
          </a:p>
          <a:p>
            <a:pPr algn="l"/>
            <a:r>
              <a:rPr sz="1050" i="0" b="0">
                <a:solidFill>
                  <a:srgbClr val="1A1A1A"/>
                </a:solidFill>
              </a:rPr>
              <a:t>    across densities:</a:t>
            </a:r>
          </a:p>
          <a:p>
            <a:pPr algn="l"/>
            <a:r>
              <a:rPr sz="1050" i="0" b="0">
                <a:solidFill>
                  <a:srgbClr val="1A1A1A"/>
                </a:solidFill>
              </a:rPr>
              <a:t>     HGDPMXB &gt; HGDP &gt; PEL_EAS</a:t>
            </a:r>
          </a:p>
          <a:p>
            <a:pPr algn="l"/>
          </a:p>
          <a:p>
            <a:pPr algn="l"/>
            <a:r>
              <a:rPr sz="1050" i="0" b="0">
                <a:solidFill>
                  <a:srgbClr val="1A1A1A"/>
                </a:solidFill>
              </a:rPr>
              <a:t>•  Recommend HGDPMXB for the</a:t>
            </a:r>
          </a:p>
          <a:p>
            <a:pPr algn="l"/>
            <a:r>
              <a:rPr sz="1050" i="0" b="0">
                <a:solidFill>
                  <a:srgbClr val="1A1A1A"/>
                </a:solidFill>
              </a:rPr>
              <a:t>    Mexican-Latino GWAS pipeline</a:t>
            </a:r>
          </a:p>
        </p:txBody>
      </p:sp>
      <p:sp>
        <p:nvSpPr>
          <p:cNvPr id="7" name="TextBox 6"/>
          <p:cNvSpPr txBox="1"/>
          <p:nvPr/>
        </p:nvSpPr>
        <p:spPr>
          <a:xfrm>
            <a:off x="502920" y="6537960"/>
            <a:ext cx="7315200" cy="274320"/>
          </a:xfrm>
          <a:prstGeom prst="rect">
            <a:avLst/>
          </a:prstGeom>
          <a:noFill/>
        </p:spPr>
        <p:txBody>
          <a:bodyPr wrap="square" lIns="0" rIns="0" tIns="0" bIns="0">
            <a:spAutoFit/>
          </a:bodyPr>
          <a:lstStyle/>
          <a:p>
            <a:pPr algn="l"/>
            <a:r>
              <a:rPr sz="900" i="0" b="0">
                <a:solidFill>
                  <a:srgbClr val="666666"/>
                </a:solidFill>
              </a:rPr>
              <a:t>Christina Magyar  ·  Thesis committee, Aug 2026  ·  Result · Chip</a:t>
            </a:r>
          </a:p>
        </p:txBody>
      </p:sp>
      <p:sp>
        <p:nvSpPr>
          <p:cNvPr id="8" name="TextBox 7"/>
          <p:cNvSpPr txBox="1"/>
          <p:nvPr/>
        </p:nvSpPr>
        <p:spPr>
          <a:xfrm>
            <a:off x="11338560" y="6537960"/>
            <a:ext cx="548640" cy="274320"/>
          </a:xfrm>
          <a:prstGeom prst="rect">
            <a:avLst/>
          </a:prstGeom>
          <a:noFill/>
        </p:spPr>
        <p:txBody>
          <a:bodyPr wrap="square" lIns="0" rIns="0" tIns="0" bIns="0">
            <a:spAutoFit/>
          </a:bodyPr>
          <a:lstStyle/>
          <a:p>
            <a:pPr algn="r"/>
            <a:r>
              <a:rPr sz="900" i="0" b="0">
                <a:solidFill>
                  <a:srgbClr val="666666"/>
                </a:solidFill>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822960"/>
          </a:xfrm>
          <a:prstGeom prst="rect">
            <a:avLst/>
          </a:prstGeom>
          <a:noFill/>
        </p:spPr>
        <p:txBody>
          <a:bodyPr wrap="square">
            <a:spAutoFit/>
          </a:bodyPr>
          <a:lstStyle/>
          <a:p>
            <a:r>
              <a:rPr sz="2400" b="1">
                <a:solidFill>
                  <a:srgbClr val="0E2841"/>
                </a:solidFill>
              </a:rPr>
              <a:t>8-module Nextflow preprocessing pipeline built; benchmarking underway.</a:t>
            </a:r>
          </a:p>
        </p:txBody>
      </p:sp>
      <p:sp>
        <p:nvSpPr>
          <p:cNvPr id="3" name="TextBox 2"/>
          <p:cNvSpPr txBox="1"/>
          <p:nvPr/>
        </p:nvSpPr>
        <p:spPr>
          <a:xfrm>
            <a:off x="502920" y="1051560"/>
            <a:ext cx="11155680" cy="365760"/>
          </a:xfrm>
          <a:prstGeom prst="rect">
            <a:avLst/>
          </a:prstGeom>
          <a:noFill/>
        </p:spPr>
        <p:txBody>
          <a:bodyPr wrap="square" lIns="0" rIns="0" tIns="0" bIns="0">
            <a:spAutoFit/>
          </a:bodyPr>
          <a:lstStyle/>
          <a:p>
            <a:pPr algn="l"/>
            <a:r>
              <a:rPr sz="1200" i="1" b="0">
                <a:solidFill>
                  <a:srgbClr val="666666"/>
                </a:solidFill>
              </a:rPr>
              <a:t>Containerized · parameterized · parallelized across chromosomes and platforms</a:t>
            </a:r>
          </a:p>
        </p:txBody>
      </p:sp>
      <p:pic>
        <p:nvPicPr>
          <p:cNvPr id="4" name="Picture 3" descr="fig_pipeline.png"/>
          <p:cNvPicPr>
            <a:picLocks noChangeAspect="1"/>
          </p:cNvPicPr>
          <p:nvPr/>
        </p:nvPicPr>
        <p:blipFill>
          <a:blip r:embed="rId2"/>
          <a:stretch>
            <a:fillRect/>
          </a:stretch>
        </p:blipFill>
        <p:spPr>
          <a:xfrm>
            <a:off x="365760" y="1417320"/>
            <a:ext cx="11430000" cy="3853436"/>
          </a:xfrm>
          <a:prstGeom prst="rect">
            <a:avLst/>
          </a:prstGeom>
        </p:spPr>
      </p:pic>
      <p:sp>
        <p:nvSpPr>
          <p:cNvPr id="5" name="TextBox 4"/>
          <p:cNvSpPr txBox="1"/>
          <p:nvPr/>
        </p:nvSpPr>
        <p:spPr>
          <a:xfrm>
            <a:off x="502920" y="5074920"/>
            <a:ext cx="11155680" cy="320040"/>
          </a:xfrm>
          <a:prstGeom prst="rect">
            <a:avLst/>
          </a:prstGeom>
          <a:noFill/>
        </p:spPr>
        <p:txBody>
          <a:bodyPr wrap="square" lIns="0" rIns="0" tIns="0" bIns="0">
            <a:spAutoFit/>
          </a:bodyPr>
          <a:lstStyle/>
          <a:p>
            <a:pPr algn="l"/>
            <a:r>
              <a:rPr sz="1300" i="0" b="1">
                <a:solidFill>
                  <a:srgbClr val="0E2841"/>
                </a:solidFill>
              </a:rPr>
              <a:t>Status since Spring TAC</a:t>
            </a:r>
          </a:p>
        </p:txBody>
      </p:sp>
      <p:sp>
        <p:nvSpPr>
          <p:cNvPr id="6" name="Rounded Rectangle 5"/>
          <p:cNvSpPr/>
          <p:nvPr/>
        </p:nvSpPr>
        <p:spPr>
          <a:xfrm>
            <a:off x="502920" y="5440680"/>
            <a:ext cx="868680" cy="274320"/>
          </a:xfrm>
          <a:prstGeom prst="round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FFFFFF"/>
                </a:solidFill>
              </a:rPr>
              <a:t>BUILT</a:t>
            </a:r>
          </a:p>
        </p:txBody>
      </p:sp>
      <p:sp>
        <p:nvSpPr>
          <p:cNvPr id="7" name="TextBox 6"/>
          <p:cNvSpPr txBox="1"/>
          <p:nvPr/>
        </p:nvSpPr>
        <p:spPr>
          <a:xfrm>
            <a:off x="1463040" y="5458968"/>
            <a:ext cx="9601200" cy="292608"/>
          </a:xfrm>
          <a:prstGeom prst="rect">
            <a:avLst/>
          </a:prstGeom>
          <a:noFill/>
        </p:spPr>
        <p:txBody>
          <a:bodyPr wrap="square" lIns="0" rIns="0" tIns="0" bIns="0">
            <a:spAutoFit/>
          </a:bodyPr>
          <a:lstStyle/>
          <a:p>
            <a:pPr algn="l"/>
            <a:r>
              <a:rPr sz="1100" i="0" b="0">
                <a:solidFill>
                  <a:srgbClr val="1A1A1A"/>
                </a:solidFill>
              </a:rPr>
              <a:t>9-module Nextflow pipeline</a:t>
            </a:r>
          </a:p>
        </p:txBody>
      </p:sp>
      <p:sp>
        <p:nvSpPr>
          <p:cNvPr id="8" name="Rounded Rectangle 7"/>
          <p:cNvSpPr/>
          <p:nvPr/>
        </p:nvSpPr>
        <p:spPr>
          <a:xfrm>
            <a:off x="502920" y="5733288"/>
            <a:ext cx="868680" cy="274320"/>
          </a:xfrm>
          <a:prstGeom prst="round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FFFFFF"/>
                </a:solidFill>
              </a:rPr>
              <a:t>BUILT</a:t>
            </a:r>
          </a:p>
        </p:txBody>
      </p:sp>
      <p:sp>
        <p:nvSpPr>
          <p:cNvPr id="9" name="TextBox 8"/>
          <p:cNvSpPr txBox="1"/>
          <p:nvPr/>
        </p:nvSpPr>
        <p:spPr>
          <a:xfrm>
            <a:off x="1463040" y="5751576"/>
            <a:ext cx="9601200" cy="292608"/>
          </a:xfrm>
          <a:prstGeom prst="rect">
            <a:avLst/>
          </a:prstGeom>
          <a:noFill/>
        </p:spPr>
        <p:txBody>
          <a:bodyPr wrap="square" lIns="0" rIns="0" tIns="0" bIns="0">
            <a:spAutoFit/>
          </a:bodyPr>
          <a:lstStyle/>
          <a:p>
            <a:pPr algn="l"/>
            <a:r>
              <a:rPr sz="1100" i="0" b="0">
                <a:solidFill>
                  <a:srgbClr val="1A1A1A"/>
                </a:solidFill>
              </a:rPr>
              <a:t>Pilot ran on TOPMed test data (end of Module 8)</a:t>
            </a:r>
          </a:p>
        </p:txBody>
      </p:sp>
      <p:sp>
        <p:nvSpPr>
          <p:cNvPr id="10" name="Rounded Rectangle 9"/>
          <p:cNvSpPr/>
          <p:nvPr/>
        </p:nvSpPr>
        <p:spPr>
          <a:xfrm>
            <a:off x="502920" y="6025896"/>
            <a:ext cx="868680" cy="27432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FFFFFF"/>
                </a:solidFill>
              </a:rPr>
              <a:t>IN PROG.</a:t>
            </a:r>
          </a:p>
        </p:txBody>
      </p:sp>
      <p:sp>
        <p:nvSpPr>
          <p:cNvPr id="11" name="TextBox 10"/>
          <p:cNvSpPr txBox="1"/>
          <p:nvPr/>
        </p:nvSpPr>
        <p:spPr>
          <a:xfrm>
            <a:off x="1463040" y="6044184"/>
            <a:ext cx="9601200" cy="292608"/>
          </a:xfrm>
          <a:prstGeom prst="rect">
            <a:avLst/>
          </a:prstGeom>
          <a:noFill/>
        </p:spPr>
        <p:txBody>
          <a:bodyPr wrap="square" lIns="0" rIns="0" tIns="0" bIns="0">
            <a:spAutoFit/>
          </a:bodyPr>
          <a:lstStyle/>
          <a:p>
            <a:pPr algn="l"/>
            <a:r>
              <a:rPr sz="1100" i="0" b="0">
                <a:solidFill>
                  <a:srgbClr val="1A1A1A"/>
                </a:solidFill>
              </a:rPr>
              <a:t>Michigan &amp; AoU AnVIL patched in (Q3 2026)</a:t>
            </a:r>
          </a:p>
        </p:txBody>
      </p:sp>
      <p:sp>
        <p:nvSpPr>
          <p:cNvPr id="12" name="Rounded Rectangle 11"/>
          <p:cNvSpPr/>
          <p:nvPr/>
        </p:nvSpPr>
        <p:spPr>
          <a:xfrm>
            <a:off x="502920" y="6318504"/>
            <a:ext cx="868680" cy="274320"/>
          </a:xfrm>
          <a:prstGeom prst="round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FFFFFF"/>
                </a:solidFill>
              </a:rPr>
              <a:t>IN PROG.</a:t>
            </a:r>
          </a:p>
        </p:txBody>
      </p:sp>
      <p:sp>
        <p:nvSpPr>
          <p:cNvPr id="13" name="TextBox 12"/>
          <p:cNvSpPr txBox="1"/>
          <p:nvPr/>
        </p:nvSpPr>
        <p:spPr>
          <a:xfrm>
            <a:off x="1463040" y="6336792"/>
            <a:ext cx="9601200" cy="292608"/>
          </a:xfrm>
          <a:prstGeom prst="rect">
            <a:avLst/>
          </a:prstGeom>
          <a:noFill/>
        </p:spPr>
        <p:txBody>
          <a:bodyPr wrap="square" lIns="0" rIns="0" tIns="0" bIns="0">
            <a:spAutoFit/>
          </a:bodyPr>
          <a:lstStyle/>
          <a:p>
            <a:pPr algn="l"/>
            <a:r>
              <a:rPr sz="1100" i="0" b="0">
                <a:solidFill>
                  <a:srgbClr val="1A1A1A"/>
                </a:solidFill>
              </a:rPr>
              <a:t>Full benchmarking sweep (target Apr 2026 done)</a:t>
            </a:r>
          </a:p>
        </p:txBody>
      </p:sp>
      <p:sp>
        <p:nvSpPr>
          <p:cNvPr id="14" name="Rounded Rectangle 13"/>
          <p:cNvSpPr/>
          <p:nvPr/>
        </p:nvSpPr>
        <p:spPr>
          <a:xfrm>
            <a:off x="502920" y="6611112"/>
            <a:ext cx="868680" cy="274320"/>
          </a:xfrm>
          <a:prstGeom prst="round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FFFFFF"/>
                </a:solidFill>
              </a:rPr>
              <a:t>NEXT</a:t>
            </a:r>
          </a:p>
        </p:txBody>
      </p:sp>
      <p:sp>
        <p:nvSpPr>
          <p:cNvPr id="15" name="TextBox 14"/>
          <p:cNvSpPr txBox="1"/>
          <p:nvPr/>
        </p:nvSpPr>
        <p:spPr>
          <a:xfrm>
            <a:off x="1463040" y="6629400"/>
            <a:ext cx="9601200" cy="292608"/>
          </a:xfrm>
          <a:prstGeom prst="rect">
            <a:avLst/>
          </a:prstGeom>
          <a:noFill/>
        </p:spPr>
        <p:txBody>
          <a:bodyPr wrap="square" lIns="0" rIns="0" tIns="0" bIns="0">
            <a:spAutoFit/>
          </a:bodyPr>
          <a:lstStyle/>
          <a:p>
            <a:pPr algn="l"/>
            <a:r>
              <a:rPr sz="1100" i="0" b="0">
                <a:solidFill>
                  <a:srgbClr val="1A1A1A"/>
                </a:solidFill>
              </a:rPr>
              <a:t>Ancestry-stratified GWAS on REDIAL/COG</a:t>
            </a:r>
          </a:p>
        </p:txBody>
      </p:sp>
      <p:sp>
        <p:nvSpPr>
          <p:cNvPr id="16" name="TextBox 15"/>
          <p:cNvSpPr txBox="1"/>
          <p:nvPr/>
        </p:nvSpPr>
        <p:spPr>
          <a:xfrm>
            <a:off x="502920" y="6537960"/>
            <a:ext cx="7315200" cy="274320"/>
          </a:xfrm>
          <a:prstGeom prst="rect">
            <a:avLst/>
          </a:prstGeom>
          <a:noFill/>
        </p:spPr>
        <p:txBody>
          <a:bodyPr wrap="square" lIns="0" rIns="0" tIns="0" bIns="0">
            <a:spAutoFit/>
          </a:bodyPr>
          <a:lstStyle/>
          <a:p>
            <a:pPr algn="l"/>
            <a:r>
              <a:rPr sz="900" i="0" b="0">
                <a:solidFill>
                  <a:srgbClr val="666666"/>
                </a:solidFill>
              </a:rPr>
              <a:t>Christina Magyar  ·  Thesis committee, Aug 2026  ·  Pipeline update</a:t>
            </a:r>
          </a:p>
        </p:txBody>
      </p:sp>
      <p:sp>
        <p:nvSpPr>
          <p:cNvPr id="17" name="TextBox 16"/>
          <p:cNvSpPr txBox="1"/>
          <p:nvPr/>
        </p:nvSpPr>
        <p:spPr>
          <a:xfrm>
            <a:off x="11338560" y="6537960"/>
            <a:ext cx="548640" cy="274320"/>
          </a:xfrm>
          <a:prstGeom prst="rect">
            <a:avLst/>
          </a:prstGeom>
          <a:noFill/>
        </p:spPr>
        <p:txBody>
          <a:bodyPr wrap="square" lIns="0" rIns="0" tIns="0" bIns="0">
            <a:spAutoFit/>
          </a:bodyPr>
          <a:lstStyle/>
          <a:p>
            <a:pPr algn="r"/>
            <a:r>
              <a:rPr sz="900" i="0" b="0">
                <a:solidFill>
                  <a:srgbClr val="666666"/>
                </a:solidFill>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